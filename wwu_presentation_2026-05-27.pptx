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E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24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E2F"/>
                </a:solidFill>
                <a:latin typeface="Chivo Mono"/>
              </a:rPr>
              <a:t>CIVIL RIGHTS HISTORY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1C1917"/>
                </a:solidFill>
                <a:latin typeface="Inter"/>
              </a:rPr>
              <a:t>From Whisper to Smithsonian-Grade Publication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>
                <a:solidFill>
                  <a:srgbClr val="44403C"/>
                </a:solidFill>
                <a:latin typeface="Source Serif 4"/>
              </a:rPr>
              <a:t>Nine audit passes, the Library of Congress as canonical authority, and a live RAG layer that surfaces the cleaned corpus.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B23E2F"/>
                </a:solidFill>
                <a:latin typeface="Chivo Mono"/>
              </a:rPr>
              <a:t>WWU team meeting  /  May 27,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78716C"/>
                </a:solidFill>
                <a:latin typeface="Chivo Mono"/>
              </a:rPr>
              <a:t>Live staging: civil-rights-staging.netlify.app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E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B23E2F"/>
                </a:solidFill>
                <a:latin typeface="Chivo Mono"/>
              </a:rPr>
              <a:t>THE PROBLEM IN ONE SENTENCE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1C1917"/>
                </a:solidFill>
                <a:latin typeface="Inter"/>
              </a:rPr>
              <a:t>Whisper transcripts read fluently. They are also wrong.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44403C"/>
                </a:solidFill>
                <a:latin typeface="Source Serif 4"/>
              </a:rPr>
              <a:t>Automatic Speech Recognition on 1960s-era oral history audio produces transcript text that reads fluently but contains systematic errors invisible to a casual read. A Smithsonian-grade publication built on those transcripts would confidently say the wrong thing.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749039"/>
            <a:ext cx="10881360" cy="2286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24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886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B23E2F"/>
                </a:solidFill>
                <a:latin typeface="Chivo Mono"/>
              </a:rPr>
              <a:t>WHAT WHISPER SAID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251960"/>
            <a:ext cx="5212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1C1917"/>
                </a:solidFill>
                <a:latin typeface="Source Serif 4"/>
              </a:rPr>
              <a:t>"Earl, Adam Clayton Powell Sr., Andrew, Carlos"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9377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78716C"/>
                </a:solidFill>
                <a:latin typeface="Chivo Mono"/>
              </a:rPr>
              <a:t>John Carlos's siblings, in his own voice.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86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B23E2F"/>
                </a:solidFill>
                <a:latin typeface="Chivo Mono"/>
              </a:rPr>
              <a:t>WHAT JOHN CARLOS ACTUALLY SAID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251960"/>
            <a:ext cx="5212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1C1917"/>
                </a:solidFill>
                <a:latin typeface="Source Serif 4"/>
              </a:rPr>
              <a:t>"Earl Jr., Andrew, John Carlos"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93776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78716C"/>
                </a:solidFill>
                <a:latin typeface="Chivo Mono"/>
              </a:rPr>
              <a:t>Whisper bled Adam Clayton Powell Sr. (the Abyssinian Baptist Church pastor mentioned three paragraphs later) backward into the siblings list, inventing a fictional brother.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  <a:latin typeface="Chivo Mono"/>
              </a:rPr>
              <a:t>Civil Rights History Project  /  WWU  /  May 27,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8716C"/>
                </a:solidFill>
                <a:latin typeface="Chivo Mono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E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B23E2F"/>
                </a:solidFill>
                <a:latin typeface="Chivo Mono"/>
              </a:rPr>
              <a:t>CONCRETE EXAMPLES FROM THE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1C1917"/>
                </a:solidFill>
                <a:latin typeface="Inter"/>
              </a:rPr>
              <a:t>Categorical errors, not typos.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44403C"/>
                </a:solidFill>
                <a:latin typeface="Source Serif 4"/>
              </a:rPr>
              <a:t>Wrong person, wrong place, wrong fact, presented with the same confidence as the rest of the text.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606040"/>
          <a:ext cx="10972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hivo Mono"/>
                        </a:rPr>
                        <a:t>Whisper output</a:t>
                      </a:r>
                    </a:p>
                  </a:txBody>
                  <a:tcPr>
                    <a:solidFill>
                      <a:srgbClr val="1C19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hivo Mono"/>
                        </a:rPr>
                        <a:t>Correct reading</a:t>
                      </a:r>
                    </a:p>
                  </a:txBody>
                  <a:tcPr>
                    <a:solidFill>
                      <a:srgbClr val="1C19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hivo Mono"/>
                        </a:rPr>
                        <a:t>Why it matters</a:t>
                      </a:r>
                    </a:p>
                  </a:txBody>
                  <a:tcPr>
                    <a:solidFill>
                      <a:srgbClr val="1C191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David Klein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David Cline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Wrong interviewer attributed to 100+ interviews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"Daniel H. Krenge De Iongh"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Daniel H. Crena de Iongh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First Treasurer of the World Bank; key apartheid-finance figure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"Paul Hoffman Robeson"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Paul Robeson + Paul Hoffman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Two distinct figures merged into one identity, 4 occurrences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"Margaret the King"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Martin Luther King Jr.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Recurring across multiple interviews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"Auto bom barroom"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Audubon Ballroom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Site of Malcolm X's assassination, rendered unrecognizable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"Stoke and Carmichael"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Stokely Carmichael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SNCC chairman; Whisper invented a second speaker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"Elders Cleaver"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Eldridge Cleaver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Black Panther Party Minister of Information (24 occurrences in one transcript)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  <a:latin typeface="Chivo Mono"/>
              </a:rPr>
              <a:t>Civil Rights History Project  /  WWU  /  May 27,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8716C"/>
                </a:solidFill>
                <a:latin typeface="Chivo Mono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E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B23E2F"/>
                </a:solidFill>
                <a:latin typeface="Chivo Mono"/>
              </a:rPr>
              <a:t>THE AUDIT CASCADE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1C1917"/>
                </a:solidFill>
                <a:latin typeface="Inter"/>
              </a:rPr>
              <a:t>Eight passes of cleaning + a ninth against the LoC archive.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B23E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hivo Mono"/>
              </a:rPr>
              <a:t>Pass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48840" y="1911095"/>
            <a:ext cx="9509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4403C"/>
                </a:solidFill>
                <a:latin typeface="Inter"/>
              </a:rPr>
              <a:t>Phonetic alias matching + ground-truth corpus grounding.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59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B23E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hivo Mono"/>
              </a:rPr>
              <a:t>Pass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40" y="2459735"/>
            <a:ext cx="9509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4403C"/>
                </a:solidFill>
                <a:latin typeface="Inter"/>
              </a:rPr>
              <a:t>Per-entry tail sweep for entries with partial Pass 1 reads.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71799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B23E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hivo Mono"/>
              </a:rPr>
              <a:t>Pass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3008375"/>
            <a:ext cx="9509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4403C"/>
                </a:solidFill>
                <a:latin typeface="Inter"/>
              </a:rPr>
              <a:t>Consolidation: confidence resolutions + adversarial-review flags.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520439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B23E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hivo Mono"/>
              </a:rPr>
              <a:t>Pass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3557015"/>
            <a:ext cx="9509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4403C"/>
                </a:solidFill>
                <a:latin typeface="Inter"/>
              </a:rPr>
              <a:t>Sweeping QA + fact-check (one transcript per agent, strict isolation).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069079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B23E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hivo Mono"/>
              </a:rPr>
              <a:t>Layer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4105655"/>
            <a:ext cx="9509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4403C"/>
                </a:solidFill>
                <a:latin typeface="Inter"/>
              </a:rPr>
              <a:t>Corpus-global fidelity audit: phantom Whisper renderings, bidirectional canonical consistency, catalog-vs-per-entry contradictions.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617719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B23E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hivo Mono"/>
              </a:rPr>
              <a:t>Pass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4654295"/>
            <a:ext cx="9509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4403C"/>
                </a:solidFill>
                <a:latin typeface="Inter"/>
              </a:rPr>
              <a:t>Apply-step discipline lockdown after the Pass 7 PRR side-file regression.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166359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B23E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hivo Mono"/>
              </a:rPr>
              <a:t>Pass 7 PRR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5202935"/>
            <a:ext cx="9509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4403C"/>
                </a:solidFill>
                <a:latin typeface="Inter"/>
              </a:rPr>
              <a:t>Narrative-coherence pass: catches ASR name-bleed cases that alias matching cannot.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714999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B23E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hivo Mono"/>
              </a:rPr>
              <a:t>Pass 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5751575"/>
            <a:ext cx="9509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4403C"/>
                </a:solidFill>
                <a:latin typeface="Inter"/>
              </a:rPr>
              <a:t>Library of Congress canonical-archive cross-reference. The first pass anchored to a primary external authority. Coverage: 127 / 127 (100%).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  <a:latin typeface="Chivo Mono"/>
              </a:rPr>
              <a:t>Civil Rights History Project  /  WWU  /  May 27,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8716C"/>
                </a:solidFill>
                <a:latin typeface="Chivo Mono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E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B23E2F"/>
                </a:solidFill>
                <a:latin typeface="Chivo Mono"/>
              </a:rPr>
              <a:t>PASS 8: LIBRARY OF CONGRESS HEALING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1C1917"/>
                </a:solidFill>
                <a:latin typeface="Inter"/>
              </a:rPr>
              <a:t>The 9th pass that anchored the corpus to its canonical authority.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44403C"/>
                </a:solidFill>
                <a:latin typeface="Source Serif 4"/>
              </a:rPr>
              <a:t>Library of Congress and the Smithsonian NMAAHC jointly produced this corpus. LoC has authoritative transcripts for every interview. Passes 1-7 used internal ground truth + adversarial-model review but never cross-referenced our transcripts against LoC's own. Pass 8 fixed that.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8328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2483C"/>
                </a:solidFill>
                <a:latin typeface="Chivo Mono"/>
              </a:rPr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40156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4403C"/>
                </a:solidFill>
                <a:latin typeface="Inter"/>
              </a:rPr>
              <a:t>Resolve LoC item URL for each interviewee (search API + PDF fallback).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9476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2483C"/>
                </a:solidFill>
                <a:latin typeface="Chivo Mono"/>
              </a:rPr>
              <a:t>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81304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4403C"/>
                </a:solidFill>
                <a:latin typeface="Inter"/>
              </a:rPr>
              <a:t>Word-align our Whisper-derived .srt against LoC's transcript 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0624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2483C"/>
                </a:solidFill>
                <a:latin typeface="Chivo Mono"/>
              </a:rPr>
              <a:t>3.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4403C"/>
                </a:solidFill>
                <a:latin typeface="Inter"/>
              </a:rPr>
              <a:t>Classify each divergence under conservative-first-pass discipline.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177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2483C"/>
                </a:solidFill>
                <a:latin typeface="Chivo Mono"/>
              </a:rPr>
              <a:t>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6360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4403C"/>
                </a:solidFill>
                <a:latin typeface="Inter"/>
              </a:rPr>
              <a:t>Apply only the deterministic-verdict heals inside existing cue boundaries.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2920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2483C"/>
                </a:solidFill>
                <a:latin typeface="Chivo Mono"/>
              </a:rPr>
              <a:t>5.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04748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4403C"/>
                </a:solidFill>
                <a:latin typeface="Inter"/>
              </a:rPr>
              <a:t>Flag the rest for SME review (per-entry stage file: pass8_stage/entry_NNN_&lt;slug&gt;.md).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44068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2483C"/>
                </a:solidFill>
                <a:latin typeface="Chivo Mono"/>
              </a:rPr>
              <a:t>6.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545896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4403C"/>
                </a:solidFill>
                <a:latin typeface="Inter"/>
              </a:rPr>
              <a:t>Audit-canon safeguard: do not auto-reverse a confirmed prior-pass correction.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  <a:latin typeface="Chivo Mono"/>
              </a:rPr>
              <a:t>Civil Rights History Project  /  WWU  /  May 27,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8716C"/>
                </a:solidFill>
                <a:latin typeface="Chivo Mono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E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B23E2F"/>
                </a:solidFill>
                <a:latin typeface="Chivo Mono"/>
              </a:rPr>
              <a:t>COVERAGE ACHIEVED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1C1917"/>
                </a:solidFill>
                <a:latin typeface="Inter"/>
              </a:rPr>
              <a:t>Every audit-able interview cross-validated against LoC.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hivo Mono"/>
                        </a:rPr>
                        <a:t>Metric</a:t>
                      </a:r>
                    </a:p>
                  </a:txBody>
                  <a:tcPr>
                    <a:solidFill>
                      <a:srgbClr val="1C19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hivo Mono"/>
                        </a:rPr>
                        <a:t>Value</a:t>
                      </a:r>
                    </a:p>
                  </a:txBody>
                  <a:tcPr>
                    <a:solidFill>
                      <a:srgbClr val="1C191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Total interviews in audit-able corpus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127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Healed against LoC reference text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127  (100%)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Healed via LoC TEI2 XML transcripts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Healed via LoC PDF text extraction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35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Audio-only on LoC (no transcript available at all)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Total ASR-error heals applied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~2,600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Total divergences flagged for SME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~95,000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Apply failures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0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Cue-count / timestamp verification failures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B23E2F"/>
                </a:solidFill>
                <a:latin typeface="Inter"/>
              </a:rPr>
              <a:t>LoC has machine-extractable transcripts for every interview in our corpus, and we have cross-validated all 127. Coverage is complete.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  <a:latin typeface="Chivo Mono"/>
              </a:rPr>
              <a:t>Civil Rights History Project  /  WWU  /  May 27,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8716C"/>
                </a:solidFill>
                <a:latin typeface="Chivo Mono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E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B23E2F"/>
                </a:solidFill>
                <a:latin typeface="Chivo Mono"/>
              </a:rPr>
              <a:t>CONSERVATIVE-FIRST-PASS DISCIPLINE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1C1917"/>
                </a:solidFill>
                <a:latin typeface="Inter"/>
              </a:rPr>
              <a:t>95,000 divergences detected.  ~2,600 applied as heals.  Why so few?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44403C"/>
                </a:solidFill>
                <a:latin typeface="Source Serif 4"/>
              </a:rPr>
              <a:t>The automatic-apply path is reserved for cases we are highly confident: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F2483C"/>
                </a:solidFill>
                <a:latin typeface="Inter"/>
              </a:rPr>
              <a:t>*  </a:t>
            </a:r>
            <a:r>
              <a:rPr sz="1500" b="1">
                <a:solidFill>
                  <a:srgbClr val="1C1917"/>
                </a:solidFill>
                <a:latin typeface="Inter"/>
              </a:rPr>
              <a:t>Single-word proper-noun substitution.</a:t>
            </a:r>
            <a:r>
              <a:rPr sz="1500" b="0">
                <a:solidFill>
                  <a:srgbClr val="44403C"/>
                </a:solidFill>
                <a:latin typeface="Inter"/>
              </a:rPr>
              <a:t>  Klein -&gt; Cline.  Wide phonetic confusion band kept, anything broader skipped.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6440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F2483C"/>
                </a:solidFill>
                <a:latin typeface="Inter"/>
              </a:rPr>
              <a:t>*  </a:t>
            </a:r>
            <a:r>
              <a:rPr sz="1500" b="1">
                <a:solidFill>
                  <a:srgbClr val="1C1917"/>
                </a:solidFill>
                <a:latin typeface="Inter"/>
              </a:rPr>
              <a:t>Similarity ratio in the 0.55-0.95 band.</a:t>
            </a:r>
            <a:r>
              <a:rPr sz="1500" b="0">
                <a:solidFill>
                  <a:srgbClr val="44403C"/>
                </a:solidFill>
                <a:latin typeface="Inter"/>
              </a:rPr>
              <a:t>  Close enough to be ASR phonetic confusion, far enough not to be case or orthography drift.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9936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F2483C"/>
                </a:solidFill>
                <a:latin typeface="Inter"/>
              </a:rPr>
              <a:t>*  </a:t>
            </a:r>
            <a:r>
              <a:rPr sz="1500" b="1">
                <a:solidFill>
                  <a:srgbClr val="1C1917"/>
                </a:solidFill>
                <a:latin typeface="Inter"/>
              </a:rPr>
              <a:t>Our token NOT in the audit-canon set.</a:t>
            </a:r>
            <a:r>
              <a:rPr sz="1500" b="0">
                <a:solidFill>
                  <a:srgbClr val="44403C"/>
                </a:solidFill>
                <a:latin typeface="Inter"/>
              </a:rPr>
              <a:t>  Never reverse a confirmed prior-pass correction; surface as SME review instead.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55464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F2483C"/>
                </a:solidFill>
                <a:latin typeface="Inter"/>
              </a:rPr>
              <a:t>*  </a:t>
            </a:r>
            <a:r>
              <a:rPr sz="1500" b="1">
                <a:solidFill>
                  <a:srgbClr val="1C1917"/>
                </a:solidFill>
                <a:latin typeface="Inter"/>
              </a:rPr>
              <a:t>Adjacent characters not contraction or hyphen.</a:t>
            </a:r>
            <a:r>
              <a:rPr sz="1500" b="0">
                <a:solidFill>
                  <a:srgbClr val="44403C"/>
                </a:solidFill>
                <a:latin typeface="Inter"/>
              </a:rPr>
              <a:t>  Avoids the substring-substitution landmines: 'don' -&gt; 'Daniel H. Crena de Iongh' eats 'don't'.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303520"/>
            <a:ext cx="10881360" cy="1097280"/>
          </a:xfrm>
          <a:prstGeom prst="rect">
            <a:avLst/>
          </a:prstGeom>
          <a:solidFill>
            <a:srgbClr val="FFFFFF"/>
          </a:solidFill>
          <a:ln w="25400">
            <a:solidFill>
              <a:srgbClr val="F24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44068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4403C"/>
                </a:solidFill>
                <a:latin typeface="Source Serif 4"/>
              </a:rPr>
              <a:t>The conservative path means we do not auto-introduce new errors while fixing old ones. Everything outside the clean buckets stays preserved verbatim and catalogued for human review.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  <a:latin typeface="Chivo Mono"/>
              </a:rPr>
              <a:t>Civil Rights History Project  /  WWU  /  May 27,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8716C"/>
                </a:solidFill>
                <a:latin typeface="Chivo Mono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E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B23E2F"/>
                </a:solidFill>
                <a:latin typeface="Chivo Mono"/>
              </a:rPr>
              <a:t>CHALLENGE CATEGORIES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1C1917"/>
                </a:solidFill>
                <a:latin typeface="Inter"/>
              </a:rPr>
              <a:t>What else broke, and how we handled it.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9728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5257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hivo Mono"/>
                        </a:rPr>
                        <a:t>Challenge</a:t>
                      </a:r>
                    </a:p>
                  </a:txBody>
                  <a:tcPr>
                    <a:solidFill>
                      <a:srgbClr val="1C19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hivo Mono"/>
                        </a:rPr>
                        <a:t>How it surfaces / how we handled it</a:t>
                      </a:r>
                    </a:p>
                  </a:txBody>
                  <a:tcPr>
                    <a:solidFill>
                      <a:srgbClr val="1C191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Incorrect header / interviewer attribution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"David Klein" everywhere it should have been David Cline. Pass 8 fixed all instances against LoC.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Incomplete transcripts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Whisper sometimes emptied multi-speaker joint interviews (e.g., the Ladners). Re-ingested via the streamlined 2026-05-25 pipeline.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Multiple speakers in one cue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ASR cannot reliably segment overlapping voices. Affected entries flagged as ingestion-only tier so retrieval can hedge.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Corrupted transcriptions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Audubon Ballroom -&gt; Auto bom barroom; Lenox Avenue -&gt; Linux Avenue. Pass 8 catches when LoC has the canonical form.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ASR name-bleed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Two distinct figures merged into one: Paul Robeson + Paul Hoffman -&gt; Paul Hoffman Robeson. Requires narrative-coherence pass (Pass 7).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Short-needle substitution corruption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'don' -&gt; 'Daniel H. Crena de Iongh' would eat 'don't'. Fixed via word-boundary + contraction-suffix guards in apply_corrections.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Audit-canon leakage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Whisper-derived spelling promoted in an early pass, then never re-checked. Pass 8 surfaces 710 cases where audit-canon disagrees with LoC.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  <a:latin typeface="Chivo Mono"/>
              </a:rPr>
              <a:t>Civil Rights History Project  /  WWU  /  May 27,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8716C"/>
                </a:solidFill>
                <a:latin typeface="Chivo Mono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E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B23E2F"/>
                </a:solidFill>
                <a:latin typeface="Chivo Mono"/>
              </a:rPr>
              <a:t>WHAT THE CLEANED CORPUS ENABLES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1C1917"/>
                </a:solidFill>
                <a:latin typeface="Inter"/>
              </a:rPr>
              <a:t>A live, interactive RAG layer on top of an audit-grade substrate.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44403C"/>
                </a:solidFill>
                <a:latin typeface="Source Serif 4"/>
              </a:rPr>
              <a:t>Audit cleanliness is the foundation. The retrieval layer is what makes the corpus useful to a researcher today.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51760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F2483C"/>
                </a:solidFill>
                <a:latin typeface="Inter"/>
              </a:rPr>
              <a:t>*  </a:t>
            </a:r>
            <a:r>
              <a:rPr sz="1500" b="1">
                <a:solidFill>
                  <a:srgbClr val="1C1917"/>
                </a:solidFill>
                <a:latin typeface="Inter"/>
              </a:rPr>
              <a:t>Voyage AI voyage-3 embeddings (1024-dim).</a:t>
            </a:r>
            <a:r>
              <a:rPr sz="1500" b="0">
                <a:solidFill>
                  <a:srgbClr val="44403C"/>
                </a:solidFill>
                <a:latin typeface="Inter"/>
              </a:rPr>
              <a:t>  Retrieval-tuned; finds passages that ANSWER a question, not just passages that mention the same words.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44728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F2483C"/>
                </a:solidFill>
                <a:latin typeface="Inter"/>
              </a:rPr>
              <a:t>*  </a:t>
            </a:r>
            <a:r>
              <a:rPr sz="1500" b="1">
                <a:solidFill>
                  <a:srgbClr val="1C1917"/>
                </a:solidFill>
                <a:latin typeface="Inter"/>
              </a:rPr>
              <a:t>Pinecone Builder serverless vector index.</a:t>
            </a:r>
            <a:r>
              <a:rPr sz="1500" b="0">
                <a:solidFill>
                  <a:srgbClr val="44403C"/>
                </a:solidFill>
                <a:latin typeface="Inter"/>
              </a:rPr>
              <a:t>  15,464 time-anchored .srt chunks across the 136-entry unified corpus.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42816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F2483C"/>
                </a:solidFill>
                <a:latin typeface="Inter"/>
              </a:rPr>
              <a:t>*  </a:t>
            </a:r>
            <a:r>
              <a:rPr sz="1500" b="1">
                <a:solidFill>
                  <a:srgbClr val="1C1917"/>
                </a:solidFill>
                <a:latin typeface="Inter"/>
              </a:rPr>
              <a:t>Voyage rerank-2 on top of vector search.</a:t>
            </a:r>
            <a:r>
              <a:rPr sz="1500" b="0">
                <a:solidFill>
                  <a:srgbClr val="44403C"/>
                </a:solidFill>
                <a:latin typeface="Inter"/>
              </a:rPr>
              <a:t>  Reorders candidates by deeper semantic relevance after the initial 50-candidate pull.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38344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F2483C"/>
                </a:solidFill>
                <a:latin typeface="Inter"/>
              </a:rPr>
              <a:t>*  </a:t>
            </a:r>
            <a:r>
              <a:rPr sz="1500" b="1">
                <a:solidFill>
                  <a:srgbClr val="1C1917"/>
                </a:solidFill>
                <a:latin typeface="Inter"/>
              </a:rPr>
              <a:t>5-tier fidelity badge on every passage.</a:t>
            </a:r>
            <a:r>
              <a:rPr sz="1500" b="0">
                <a:solidFill>
                  <a:srgbClr val="44403C"/>
                </a:solidFill>
                <a:latin typeface="Inter"/>
              </a:rPr>
              <a:t>  low / medium / publication-block / not-auditable / ingestion-only. The Smithsonian rigor surfaced at the result level.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33872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F2483C"/>
                </a:solidFill>
                <a:latin typeface="Inter"/>
              </a:rPr>
              <a:t>*  </a:t>
            </a:r>
            <a:r>
              <a:rPr sz="1500" b="1">
                <a:solidFill>
                  <a:srgbClr val="1C1917"/>
                </a:solidFill>
                <a:latin typeface="Inter"/>
              </a:rPr>
              <a:t>Library of Congress catalog deep-link on every result.</a:t>
            </a:r>
            <a:r>
              <a:rPr sz="1500" b="0">
                <a:solidFill>
                  <a:srgbClr val="44403C"/>
                </a:solidFill>
                <a:latin typeface="Inter"/>
              </a:rPr>
              <a:t>  The audience can verify the source against the canonical archive in one click.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  <a:latin typeface="Chivo Mono"/>
              </a:rPr>
              <a:t>Civil Rights History Project  /  WWU  /  May 27,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8716C"/>
                </a:solidFill>
                <a:latin typeface="Chivo Mono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E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B23E2F"/>
                </a:solidFill>
                <a:latin typeface="Chivo Mono"/>
              </a:rPr>
              <a:t>/RAG-EXPLORE  -  THE INTERACTIVE DEMO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1C1917"/>
                </a:solidFill>
                <a:latin typeface="Inter"/>
              </a:rPr>
              <a:t>Six surfaces on one page, all on the same embedding substrate.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4864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96596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hivo Mono"/>
              </a:rPr>
              <a:t>Spectrum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44403C"/>
                </a:solidFill>
                <a:latin typeface="Source Serif 4"/>
              </a:rPr>
              <a:t>136 dots placed along one named conceptual axis at a time. Nonviolence as Theology vs. Armed Self-Defense, Sacred vs. Secular Framing, etc. Click a dot to drill into the passages anchoring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828800"/>
            <a:ext cx="54864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92240" y="196596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hivo Mono"/>
              </a:rPr>
              <a:t>Semantic Overlap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68880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44403C"/>
                </a:solidFill>
                <a:latin typeface="Source Serif 4"/>
              </a:rPr>
              <a:t>Pick an interview. See which other voices in the corpus discuss semantically-related material. The 'voices in conversation' demo.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520440"/>
            <a:ext cx="54864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365760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hivo Mono"/>
              </a:rPr>
              <a:t>Word 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160520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44403C"/>
                </a:solidFill>
                <a:latin typeface="Source Serif 4"/>
              </a:rPr>
              <a:t>Four 2D scatters across pairs of named axes, plus a 5-spectrum 1D summary that lights up when you type a phrase and projects it onto every axis at once.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3520440"/>
            <a:ext cx="54864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92240" y="365760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B23E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hivo Mono"/>
              </a:rPr>
              <a:t>Interview 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160520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44403C"/>
                </a:solidFill>
                <a:latin typeface="Source Serif 4"/>
              </a:rPr>
              <a:t>136 dots in UMAP-projected space with empirically-derived axis labels extracted from the corpus itself (Medical Law, Movement, Family, Crime).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212080"/>
            <a:ext cx="54864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534924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hivo Mono"/>
              </a:rPr>
              <a:t>Quote Finder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852160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44403C"/>
                </a:solidFill>
                <a:latin typeface="Source Serif 4"/>
              </a:rPr>
              <a:t>Paste a half-remembered quote, get the source with the exact timestamp and LoC catalog link.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5212080"/>
            <a:ext cx="54864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92240" y="534924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hivo Mono"/>
              </a:rPr>
              <a:t>Secondary surfaces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852160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44403C"/>
                </a:solidFill>
                <a:latin typeface="Source Serif 4"/>
              </a:rPr>
              <a:t>Themes / Famous Names / Atlas / Network / Tours / Quote of the Day, each drawn from precomputed JSON for no-LLM-per-query rendering.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  <a:latin typeface="Chivo Mono"/>
              </a:rPr>
              <a:t>Civil Rights History Project  /  WWU  /  May 27,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8716C"/>
                </a:solidFill>
                <a:latin typeface="Chivo Mono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E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B23E2F"/>
                </a:solidFill>
                <a:latin typeface="Chivo Mono"/>
              </a:rPr>
              <a:t>MCP SERVER  -  THE CORPUS AS A CONNECTOR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1C1917"/>
                </a:solidFill>
                <a:latin typeface="Inter"/>
              </a:rPr>
              <a:t>Same substrate, different interface.  Reachable from any MCP client.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44403C"/>
                </a:solidFill>
                <a:latin typeface="Source Serif 4"/>
              </a:rPr>
              <a:t>The Model Context Protocol server (mcp-server/server.mjs) exposes the same Pinecone + Voyage substrate to LLM chat clients (Codex Desktop, Claude Desktop, Anthropic Connector Directory). Six tools, three of them research-pattern, all citation-grade.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461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B23E2F"/>
                </a:solidFill>
                <a:latin typeface="Chivo Mono"/>
              </a:rPr>
              <a:t>PRIMITIVE 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118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  <a:latin typeface="Chivo Mono"/>
              </a:rPr>
              <a:t>search_transcripts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88620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44403C"/>
                </a:solidFill>
                <a:latin typeface="Source Serif 4"/>
              </a:rPr>
              <a:t>Citation-grade semantic search across the archive.  Filters by entry, tier, dedupe-by-entry.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80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  <a:latin typeface="Chivo Mono"/>
              </a:rPr>
              <a:t>get_transcript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75488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44403C"/>
                </a:solidFill>
                <a:latin typeface="Source Serif 4"/>
              </a:rPr>
              <a:t>Full ordered transcript for one entry_number.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492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  <a:latin typeface="Chivo Mono"/>
              </a:rPr>
              <a:t>list_leaders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62356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44403C"/>
                </a:solidFill>
                <a:latin typeface="Source Serif 4"/>
              </a:rPr>
              <a:t>Archive roster: entry numbers, LoC URLs, provenance, audit tiers.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24612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B23E2F"/>
                </a:solidFill>
                <a:latin typeface="Chivo Mono"/>
              </a:rPr>
              <a:t>RESEARCH-PATTERN TOOLS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61188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  <a:latin typeface="Chivo Mono"/>
              </a:rPr>
              <a:t>compare_perspectives({ topic })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886200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44403C"/>
                </a:solidFill>
                <a:latin typeface="Source Serif 4"/>
              </a:rPr>
              <a:t>Multiple interviewee voices on one topic, deduped by entry, with citation framing.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48056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  <a:latin typeface="Chivo Mono"/>
              </a:rPr>
              <a:t>trace_evolution({ interviewee, topic })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754880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44403C"/>
                </a:solidFill>
                <a:latin typeface="Source Serif 4"/>
              </a:rPr>
              <a:t>Chronologically ordered passages from one interview, scoped to one topic.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349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  <a:latin typeface="Chivo Mono"/>
              </a:rPr>
              <a:t>source_for_claim({ claim })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5623560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44403C"/>
                </a:solidFill>
                <a:latin typeface="Source Serif 4"/>
              </a:rPr>
              <a:t>Passages that support, complicate, or contradict a claim.  Preserves citation metadata.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016752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hivo Mono"/>
              </a:rPr>
              <a:t>Every tool returns Chicago / APA / MLA citation blocks + the LoC catalog URL.  Deployable to Fly.io; verified locally against the live Pinecone index.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  <a:latin typeface="Chivo Mono"/>
              </a:rPr>
              <a:t>Civil Rights History Project  /  WWU  /  May 27,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8716C"/>
                </a:solidFill>
                <a:latin typeface="Chivo Mono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E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B23E2F"/>
                </a:solidFill>
                <a:latin typeface="Chivo Mono"/>
              </a:rPr>
              <a:t>PHILOSOPHY OF EMBEDDING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1C1917"/>
                </a:solidFill>
                <a:latin typeface="Inter"/>
              </a:rPr>
              <a:t>When two voices land within 0.12 cosine, the embedding heard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44403C"/>
                </a:solidFill>
                <a:latin typeface="Source Serif 4"/>
              </a:rPr>
              <a:t>Cosine similarity is reading a thematic kinship the speakers may never have realized they shared. This is the conceptual move that turns retrieval into discovery.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08960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F2483C"/>
                </a:solidFill>
                <a:latin typeface="Inter"/>
              </a:rPr>
              <a:t>*  </a:t>
            </a:r>
            <a:r>
              <a:rPr sz="1500" b="1">
                <a:solidFill>
                  <a:srgbClr val="1C1917"/>
                </a:solidFill>
                <a:latin typeface="Inter"/>
              </a:rPr>
              <a:t>Geometric, deterministic, no LLM per query.</a:t>
            </a:r>
            <a:r>
              <a:rPr sz="1500" b="0">
                <a:solidFill>
                  <a:srgbClr val="44403C"/>
                </a:solidFill>
                <a:latin typeface="Inter"/>
              </a:rPr>
              <a:t>  Spectrum positions are pure dot products. Same query renders the same way across reloads.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0448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F2483C"/>
                </a:solidFill>
                <a:latin typeface="Inter"/>
              </a:rPr>
              <a:t>*  </a:t>
            </a:r>
            <a:r>
              <a:rPr sz="1500" b="1">
                <a:solidFill>
                  <a:srgbClr val="1C1917"/>
                </a:solidFill>
                <a:latin typeface="Inter"/>
              </a:rPr>
              <a:t>Named axes, not statistical leftovers.</a:t>
            </a:r>
            <a:r>
              <a:rPr sz="1500" b="0">
                <a:solidFill>
                  <a:srgbClr val="44403C"/>
                </a:solidFill>
                <a:latin typeface="Inter"/>
              </a:rPr>
              <a:t>  UMAP and PCA give 'directions of max variance' that mean nothing to a researcher. Our axes are hand-curated semantic dimensions.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00016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F2483C"/>
                </a:solidFill>
                <a:latin typeface="Inter"/>
              </a:rPr>
              <a:t>*  </a:t>
            </a:r>
            <a:r>
              <a:rPr sz="1500" b="1">
                <a:solidFill>
                  <a:srgbClr val="1C1917"/>
                </a:solidFill>
                <a:latin typeface="Inter"/>
              </a:rPr>
              <a:t>Cross-surface synchronization.</a:t>
            </a:r>
            <a:r>
              <a:rPr sz="1500" b="0">
                <a:solidFill>
                  <a:srgbClr val="44403C"/>
                </a:solidFill>
                <a:latin typeface="Inter"/>
              </a:rPr>
              <a:t>  Hover Aaron Dixon in one chart, see him move across the other three. The shift is what the structure means.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495544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F2483C"/>
                </a:solidFill>
                <a:latin typeface="Inter"/>
              </a:rPr>
              <a:t>*  </a:t>
            </a:r>
            <a:r>
              <a:rPr sz="1500" b="1">
                <a:solidFill>
                  <a:srgbClr val="1C1917"/>
                </a:solidFill>
                <a:latin typeface="Inter"/>
              </a:rPr>
              <a:t>Provenance + uncertainty are first-class metadata.</a:t>
            </a:r>
            <a:r>
              <a:rPr sz="1500" b="0">
                <a:solidFill>
                  <a:srgbClr val="44403C"/>
                </a:solidFill>
                <a:latin typeface="Inter"/>
              </a:rPr>
              <a:t>  Every chunk knows its audit tier and its Library of Congress catalog URL. Citation-grade output by construction.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  <a:latin typeface="Chivo Mono"/>
              </a:rPr>
              <a:t>Civil Rights History Project  /  WWU  /  May 27,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8716C"/>
                </a:solidFill>
                <a:latin typeface="Chivo Mono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E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B23E2F"/>
                </a:solidFill>
                <a:latin typeface="Chivo Mono"/>
              </a:rPr>
              <a:t>STEERING DOCUMENT HIERARCHY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1C1917"/>
                </a:solidFill>
                <a:latin typeface="Inter"/>
              </a:rPr>
              <a:t>Six tiers.  Read top-down, build out from there.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9728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7476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hivo Mono"/>
                        </a:rPr>
                        <a:t>Tier</a:t>
                      </a:r>
                    </a:p>
                  </a:txBody>
                  <a:tcPr>
                    <a:solidFill>
                      <a:srgbClr val="1C19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hivo Mono"/>
                        </a:rPr>
                        <a:t>Purpose</a:t>
                      </a:r>
                    </a:p>
                  </a:txBody>
                  <a:tcPr>
                    <a:solidFill>
                      <a:srgbClr val="1C19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hivo Mono"/>
                        </a:rPr>
                        <a:t>Documents</a:t>
                      </a:r>
                    </a:p>
                  </a:txBody>
                  <a:tcPr>
                    <a:solidFill>
                      <a:srgbClr val="1C1917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Tier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Orientation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CLAUDE.md, README.md, PRESENTATION_REFERENCE.md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Tier 2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Active reference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docs/*.md, rag/README.md, rag/INTERACTIVE_FEATURES_DESIGN.md, rag/OPERATIONS.md, rag/ENDPOINTS.md, mcp-server/USAGE_GUIDE.md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Tier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Lessons learned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lessons_learned.md, docs/RAG_SUBSTRATE_DECISION.md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Tier 4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Demo prep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rag/CONFERENCE_PREP.md, rag/DEMO_SCRIPT.md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Tier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Provenance / historical record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transcripts/AUDIT_TRAIL.md, transcripts/CLEANED_TRANSCRIPTS_REVIEW.md, transcripts/loc_healing/COVERAGE_REPORT.md, per-pass stage files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477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Tier 6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Deprecated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docs/WEAVIATE_INTEGRATION_DESIGN.md  (substrate pivoted 2026-05-22)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B23E2F"/>
                </a:solidFill>
                <a:latin typeface="Inter"/>
              </a:rPr>
              <a:t>Full hierarchy + 'when to read what' cheat sheet: STEERING_DOCS.md at the project root.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  <a:latin typeface="Chivo Mono"/>
              </a:rPr>
              <a:t>Civil Rights History Project  /  WWU  /  May 27,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8716C"/>
                </a:solidFill>
                <a:latin typeface="Chivo Mono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E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B23E2F"/>
                </a:solidFill>
                <a:latin typeface="Chivo Mono"/>
              </a:rPr>
              <a:t>WHEN TO READ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1C1917"/>
                </a:solidFill>
                <a:latin typeface="Inter"/>
              </a:rPr>
              <a:t>Most-common-task cheat sheet.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9728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505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hivo Mono"/>
                        </a:rPr>
                        <a:t>You are about to...</a:t>
                      </a:r>
                    </a:p>
                  </a:txBody>
                  <a:tcPr>
                    <a:solidFill>
                      <a:srgbClr val="1C19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hivo Mono"/>
                        </a:rPr>
                        <a:t>Read first</a:t>
                      </a:r>
                    </a:p>
                  </a:txBody>
                  <a:tcPr>
                    <a:solidFill>
                      <a:srgbClr val="1C1917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Start contributing for the first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CLAUDE.md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Brief an external stakeholder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PRESENTATION_REFERENCE.md  then  lessons_learned.md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Demo the live site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rag/DEMO_SCRIPT.md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Edit audit overlays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CLAUDE.md (audit discipline)  +  transcripts/AUDIT_TRAIL.md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Ingest a new transcript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transcripts/ingestion/README.md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Touch the RAG ingest / retrieval code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rag/README.md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Build a new interactive surface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rag/INTERACTIVE_FEATURES_DESIGN.md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Deploy to staging or production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docs/DEPLOYMENT.md  +  rag/OPERATIONS.md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Touch the MCP server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mcp-server/README.md  +  mcp-server/USAGE_GUIDE.md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Touch styling, colors, accessibility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docs/ACCESSIBILITY.md  +  CLAUDE.md (writing rules)</a:t>
                      </a:r>
                    </a:p>
                  </a:txBody>
                  <a:tcPr>
                    <a:solidFill>
                      <a:srgbClr val="EBEAE9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23E2F"/>
                          </a:solidFill>
                          <a:latin typeface="Inter"/>
                        </a:rPr>
                        <a:t>Show a Smithsonian / LoC reviewer the rigor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Inter"/>
                        </a:rPr>
                        <a:t>transcripts/AUDIT_TRAIL.md  +  loc_healing/COVERAGE_REPORT.md  +  per-entry stage files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  <a:latin typeface="Chivo Mono"/>
              </a:rPr>
              <a:t>Civil Rights History Project  /  WWU  /  May 27,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8716C"/>
                </a:solidFill>
                <a:latin typeface="Chivo Mono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E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B23E2F"/>
                </a:solidFill>
                <a:latin typeface="Chivo Mono"/>
              </a:rPr>
              <a:t>WHAT IS DEFERRED / WHAT IS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1C1917"/>
                </a:solidFill>
                <a:latin typeface="Inter"/>
              </a:rPr>
              <a:t>Known follow-on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483C"/>
                </a:solidFill>
                <a:latin typeface="Inter"/>
              </a:rPr>
              <a:t>*  </a:t>
            </a:r>
            <a:r>
              <a:rPr sz="1400" b="1">
                <a:solidFill>
                  <a:srgbClr val="1C1917"/>
                </a:solidFill>
                <a:latin typeface="Inter"/>
              </a:rPr>
              <a:t>5 spelling-discrepancy entries.</a:t>
            </a:r>
            <a:r>
              <a:rPr sz="1400" b="0">
                <a:solidFill>
                  <a:srgbClr val="44403C"/>
                </a:solidFill>
                <a:latin typeface="Inter"/>
              </a:rPr>
              <a:t>  Alternative-spelling re-search against LoC catalog. Recoverable; small, targeted.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2432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483C"/>
                </a:solidFill>
                <a:latin typeface="Inter"/>
              </a:rPr>
              <a:t>*  </a:t>
            </a:r>
            <a:r>
              <a:rPr sz="1400" b="1">
                <a:solidFill>
                  <a:srgbClr val="1C1917"/>
                </a:solidFill>
                <a:latin typeface="Inter"/>
              </a:rPr>
              <a:t>~92,000 SME-flagged divergences.</a:t>
            </a:r>
            <a:r>
              <a:rPr sz="1400" b="0">
                <a:solidFill>
                  <a:srgbClr val="44403C"/>
                </a:solidFill>
                <a:latin typeface="Inter"/>
              </a:rPr>
              <a:t>  Future targeted pass with model classification. Most are editorial smoothing; a meaningful minority are real corrections we declined to auto-apply.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419856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483C"/>
                </a:solidFill>
                <a:latin typeface="Inter"/>
              </a:rPr>
              <a:t>*  </a:t>
            </a:r>
            <a:r>
              <a:rPr sz="1400" b="1">
                <a:solidFill>
                  <a:srgbClr val="1C1917"/>
                </a:solidFill>
                <a:latin typeface="Inter"/>
              </a:rPr>
              <a:t>Forced-alignment timing improvement.</a:t>
            </a:r>
            <a:r>
              <a:rPr sz="1400" b="0">
                <a:solidFill>
                  <a:srgbClr val="44403C"/>
                </a:solidFill>
                <a:latin typeface="Inter"/>
              </a:rPr>
              <a:t>  WhisperX or Montreal Forced Aligner against LoC audio. Tightens per-clip precision below the current ~5-second cue grid. Independent of text quality.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15384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483C"/>
                </a:solidFill>
                <a:latin typeface="Inter"/>
              </a:rPr>
              <a:t>*  </a:t>
            </a:r>
            <a:r>
              <a:rPr sz="1400" b="1">
                <a:solidFill>
                  <a:srgbClr val="1C1917"/>
                </a:solidFill>
                <a:latin typeface="Inter"/>
              </a:rPr>
              <a:t>MCP server deploy to Fly.io.</a:t>
            </a:r>
            <a:r>
              <a:rPr sz="1400" b="0">
                <a:solidFill>
                  <a:srgbClr val="44403C"/>
                </a:solidFill>
                <a:latin typeface="Inter"/>
              </a:rPr>
              <a:t>  Code verified locally. Awaiting flyctl auth login + fly deploy.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10912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483C"/>
                </a:solidFill>
                <a:latin typeface="Inter"/>
              </a:rPr>
              <a:t>*  </a:t>
            </a:r>
            <a:r>
              <a:rPr sz="1400" b="1">
                <a:solidFill>
                  <a:srgbClr val="1C1917"/>
                </a:solidFill>
                <a:latin typeface="Inter"/>
              </a:rPr>
              <a:t>Pipeline run on the 135 raw transcripts.</a:t>
            </a:r>
            <a:r>
              <a:rPr sz="1400" b="0">
                <a:solidFill>
                  <a:srgbClr val="44403C"/>
                </a:solidFill>
                <a:latin typeface="Inter"/>
              </a:rPr>
              <a:t>  Dual-scoring + citation audit. ~$5.40 estimated cost across the full corpus.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06440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483C"/>
                </a:solidFill>
                <a:latin typeface="Inter"/>
              </a:rPr>
              <a:t>*  </a:t>
            </a:r>
            <a:r>
              <a:rPr sz="1400" b="1">
                <a:solidFill>
                  <a:srgbClr val="1C1917"/>
                </a:solidFill>
                <a:latin typeface="Inter"/>
              </a:rPr>
              <a:t>Firebase Cloud Functions deploy.</a:t>
            </a:r>
            <a:r>
              <a:rPr sz="1400" b="0">
                <a:solidFill>
                  <a:srgbClr val="44403C"/>
                </a:solidFill>
                <a:latin typeface="Inter"/>
              </a:rPr>
              <a:t>  Requires Blaze billing on the new project + firebase functions:secrets:set OPENAI_API_KEY.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  <a:latin typeface="Chivo Mono"/>
              </a:rPr>
              <a:t>Civil Rights History Project  /  WWU  /  May 27,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8716C"/>
                </a:solidFill>
                <a:latin typeface="Chivo Mono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E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90527" y="0"/>
            <a:ext cx="201168" cy="6858000"/>
          </a:xfrm>
          <a:prstGeom prst="rect">
            <a:avLst/>
          </a:prstGeom>
          <a:solidFill>
            <a:srgbClr val="F24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E2F"/>
                </a:solidFill>
                <a:latin typeface="Chivo Mono"/>
              </a:rPr>
              <a:t>WHAT TO TAKE AWAY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C1917"/>
                </a:solidFill>
                <a:latin typeface="Inter"/>
              </a:rPr>
              <a:t>We built an audit instrument, not a clean-up script.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44403C"/>
                </a:solidFill>
                <a:latin typeface="Source Serif 4"/>
              </a:rPr>
              <a:t>Eight internal passes plus a Library of Congress healing pass against the canonical archive. Conservative-first-pass discipline so we do not auto-introduce new errors. Every passage carries its audit tier and its LoC catalog deep-link. The substrate is live at civil-rights-staging.netlify.app and the six demos on /rag-explore are what the cleaned corpus enables right now.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2064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F2483C"/>
                </a:solidFill>
                <a:latin typeface="Inter"/>
              </a:rPr>
              <a:t>Questions.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