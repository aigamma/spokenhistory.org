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63" d="100"/>
          <a:sy n="163" d="100"/>
        </p:scale>
        <p:origin x="17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4D2111-55E9-4488-A28B-A2164A65496C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7483A5-8488-4D7C-A194-802EAF657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080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7483A5-8488-4D7C-A194-802EAF65722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4741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7483A5-8488-4D7C-A194-802EAF65722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2635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822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2483C"/>
                </a:solidFill>
                <a:latin typeface="Chivo Mono"/>
              </a:rPr>
              <a:t>CIVIL RIGHTS HISTORY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5600" b="1" i="0">
                <a:solidFill>
                  <a:srgbClr val="F5F4F3"/>
                </a:solidFill>
                <a:latin typeface="Inter"/>
              </a:rPr>
              <a:t>From Whisper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40280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5600" b="1" i="0" dirty="0">
                <a:solidFill>
                  <a:srgbClr val="F5F4F3"/>
                </a:solidFill>
                <a:latin typeface="Inter"/>
              </a:rPr>
              <a:t>to Smithsonian-Grade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063240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5600" b="1" i="0" dirty="0">
                <a:solidFill>
                  <a:srgbClr val="F2483C"/>
                </a:solidFill>
                <a:latin typeface="Inter"/>
              </a:rPr>
              <a:t>Publication.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206240"/>
            <a:ext cx="1097280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1">
                <a:solidFill>
                  <a:srgbClr val="B8B3AD"/>
                </a:solidFill>
                <a:latin typeface="Source Serif 4"/>
              </a:rPr>
              <a:t>Nine audit passes  /  Library of Congress as canonical authority  /  </a:t>
            </a:r>
            <a:r>
              <a:rPr lang="en-US" sz="1700" b="0" i="1">
                <a:solidFill>
                  <a:srgbClr val="B8B3AD"/>
                </a:solidFill>
                <a:latin typeface="Source Serif 4"/>
              </a:rPr>
              <a:t>L</a:t>
            </a:r>
            <a:r>
              <a:rPr sz="1700" b="0" i="1">
                <a:solidFill>
                  <a:srgbClr val="B8B3AD"/>
                </a:solidFill>
                <a:latin typeface="Source Serif 4"/>
              </a:rPr>
              <a:t>ive </a:t>
            </a:r>
            <a:r>
              <a:rPr sz="1700" b="0" i="1" dirty="0">
                <a:solidFill>
                  <a:srgbClr val="B8B3AD"/>
                </a:solidFill>
                <a:latin typeface="Source Serif 4"/>
              </a:rPr>
              <a:t>RAG layer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68680" y="4937760"/>
            <a:ext cx="5989320" cy="0"/>
          </a:xfrm>
          <a:prstGeom prst="line">
            <a:avLst/>
          </a:prstGeom>
          <a:ln w="25400">
            <a:solidFill>
              <a:srgbClr val="F248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68680" y="52120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F2483C"/>
                </a:solidFill>
                <a:latin typeface="Chivo Mono"/>
              </a:rPr>
              <a:t>WWU TEAM MEETING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5321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F5F4F3"/>
                </a:solidFill>
                <a:latin typeface="Chivo Mono"/>
              </a:rPr>
              <a:t>May 27,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897880"/>
            <a:ext cx="1005840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300" dirty="0">
                <a:solidFill>
                  <a:srgbClr val="7C766F"/>
                </a:solidFill>
                <a:latin typeface="Chivo Mono"/>
              </a:rPr>
              <a:t>Staging site: robotlogic.org      username: </a:t>
            </a:r>
            <a:r>
              <a:rPr lang="en-US" sz="1300" dirty="0" err="1">
                <a:solidFill>
                  <a:srgbClr val="7C766F"/>
                </a:solidFill>
                <a:latin typeface="Chivo Mono"/>
              </a:rPr>
              <a:t>wwu</a:t>
            </a:r>
            <a:r>
              <a:rPr lang="en-US" sz="1300" dirty="0">
                <a:solidFill>
                  <a:srgbClr val="7C766F"/>
                </a:solidFill>
                <a:latin typeface="Chivo Mono"/>
              </a:rPr>
              <a:t>    password: </a:t>
            </a:r>
            <a:r>
              <a:rPr lang="en-US" sz="1300" dirty="0" err="1">
                <a:solidFill>
                  <a:srgbClr val="7C766F"/>
                </a:solidFill>
                <a:latin typeface="Chivo Mono"/>
              </a:rPr>
              <a:t>civilrights</a:t>
            </a:r>
            <a:endParaRPr sz="1300" b="0" i="0" dirty="0">
              <a:solidFill>
                <a:srgbClr val="7C766F"/>
              </a:solidFill>
              <a:latin typeface="Chivo Mon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2483C"/>
                </a:solidFill>
                <a:latin typeface="Chivo Mono"/>
              </a:rPr>
              <a:t>THE PROBLEM IN ONE SENTENCE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109728" cy="658368"/>
          </a:xfrm>
          <a:prstGeom prst="rect">
            <a:avLst/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822960"/>
            <a:ext cx="1097280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 dirty="0">
                <a:solidFill>
                  <a:srgbClr val="F5F4F3"/>
                </a:solidFill>
                <a:latin typeface="Inter"/>
              </a:rPr>
              <a:t>Whisper transcripts read fluently.  They are also </a:t>
            </a:r>
            <a:r>
              <a:rPr lang="en-US" sz="3200" b="1" dirty="0">
                <a:solidFill>
                  <a:srgbClr val="F5F4F3"/>
                </a:solidFill>
                <a:latin typeface="Inter"/>
              </a:rPr>
              <a:t>flawed</a:t>
            </a:r>
            <a:r>
              <a:rPr sz="3200" b="1" i="0" dirty="0">
                <a:solidFill>
                  <a:srgbClr val="F5F4F3"/>
                </a:solidFill>
                <a:latin typeface="Inter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105156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 i="0" dirty="0">
                <a:solidFill>
                  <a:srgbClr val="B8B3AD"/>
                </a:solidFill>
                <a:latin typeface="Source Serif 4"/>
              </a:rPr>
              <a:t>Automatic Speech Recognition on 1960s-era oral history audio produces transcript text that reads fluently but contains systematic errors invisible to a casual read. A Smithsonian-grade publication built on those transcripts would confidently say the wrong thing.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3749039"/>
            <a:ext cx="5166360" cy="2468880"/>
          </a:xfrm>
          <a:prstGeom prst="rect">
            <a:avLst/>
          </a:prstGeom>
          <a:solidFill>
            <a:srgbClr val="1A2026"/>
          </a:solidFill>
          <a:ln w="12700">
            <a:solidFill>
              <a:srgbClr val="2A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3749039"/>
            <a:ext cx="109728" cy="2468880"/>
          </a:xfrm>
          <a:prstGeom prst="rect">
            <a:avLst/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3931919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2483C"/>
                </a:solidFill>
                <a:latin typeface="Chivo Mono"/>
              </a:rPr>
              <a:t>WHAT WHISPER SAID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389119"/>
            <a:ext cx="4800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 i="1">
                <a:solidFill>
                  <a:srgbClr val="F5F4F3"/>
                </a:solidFill>
                <a:latin typeface="Source Serif 4"/>
              </a:rPr>
              <a:t>"Earl, Adam Clayton Powell Sr., Andrew, Carlos"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5577839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7C766F"/>
                </a:solidFill>
                <a:latin typeface="Chivo Mono"/>
              </a:rPr>
              <a:t>John Carlos's siblings, in his own voice.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3749039"/>
            <a:ext cx="5166360" cy="2468880"/>
          </a:xfrm>
          <a:prstGeom prst="rect">
            <a:avLst/>
          </a:prstGeom>
          <a:solidFill>
            <a:srgbClr val="1A2026"/>
          </a:solidFill>
          <a:ln w="12700">
            <a:solidFill>
              <a:srgbClr val="2A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55080" y="3749039"/>
            <a:ext cx="109728" cy="2468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9400" y="3931919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hivo Mono"/>
              </a:rPr>
              <a:t>WHAT JOHN CARLOS ACTUALLY SAID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389119"/>
            <a:ext cx="4800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 i="1">
                <a:solidFill>
                  <a:srgbClr val="F5F4F3"/>
                </a:solidFill>
                <a:latin typeface="Source Serif 4"/>
              </a:rPr>
              <a:t>"Earl Jr., Andrew, John Carlos"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5166359"/>
            <a:ext cx="4800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B8B3AD"/>
                </a:solidFill>
                <a:latin typeface="Source Serif 4"/>
              </a:rPr>
              <a:t>Whisper bled Adam Clayton Powell Sr. (the Abyssinian Baptist Church pastor mentioned three paragraphs later) backward into the siblings list, inventing a fictional brother.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7C766F"/>
                </a:solidFill>
                <a:latin typeface="Chivo Mono"/>
              </a:rPr>
              <a:t>Civil Rights History Project    /    WWU    /    May 27,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F2483C"/>
                </a:solidFill>
                <a:latin typeface="Chivo Mono"/>
              </a:rPr>
              <a:t>02  / 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2483C"/>
                </a:solidFill>
                <a:latin typeface="Chivo Mono"/>
              </a:rPr>
              <a:t>CONCRETE EXAMPLES FROM THE CORPUS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109728" cy="658368"/>
          </a:xfrm>
          <a:prstGeom prst="rect">
            <a:avLst/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83016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>
                <a:solidFill>
                  <a:srgbClr val="F5F4F3"/>
                </a:solidFill>
                <a:latin typeface="Inter"/>
              </a:rPr>
              <a:t>Categorical errors, not typos.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1">
                <a:solidFill>
                  <a:srgbClr val="B8B3AD"/>
                </a:solidFill>
                <a:latin typeface="Source Serif 4"/>
              </a:rPr>
              <a:t>Wrong person, wrong place, wrong fact, presented with the same confidence as the rest of the text.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68680" y="2606040"/>
          <a:ext cx="10469880" cy="3698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9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89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89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5770">
                <a:tc>
                  <a:txBody>
                    <a:bodyPr/>
                    <a:lstStyle/>
                    <a:p>
                      <a:r>
                        <a:rPr sz="1100" b="1" dirty="0">
                          <a:solidFill>
                            <a:srgbClr val="F2483C"/>
                          </a:solidFill>
                          <a:latin typeface="Chivo Mono"/>
                        </a:rPr>
                        <a:t>Whisper output</a:t>
                      </a:r>
                    </a:p>
                  </a:txBody>
                  <a:tcPr marL="109728" marR="109728" marT="54864" marB="54864"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2483C"/>
                          </a:solidFill>
                          <a:latin typeface="Chivo Mono"/>
                        </a:rPr>
                        <a:t>Correct reading</a:t>
                      </a:r>
                    </a:p>
                  </a:txBody>
                  <a:tcPr marL="109728" marR="109728" marT="54864" marB="54864"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2483C"/>
                          </a:solidFill>
                          <a:latin typeface="Chivo Mono"/>
                        </a:rPr>
                        <a:t>Why it matters</a:t>
                      </a:r>
                    </a:p>
                  </a:txBody>
                  <a:tcPr marL="109728" marR="109728" marT="54864" marB="54864">
                    <a:solidFill>
                      <a:srgbClr val="0F14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483C"/>
                          </a:solidFill>
                          <a:latin typeface="Inter"/>
                        </a:rPr>
                        <a:t>David Klein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David Cline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Wrong interviewer attributed to 100+ interviews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483C"/>
                          </a:solidFill>
                          <a:latin typeface="Inter"/>
                        </a:rPr>
                        <a:t>"Daniel H. Krenge De Iongh"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Daniel H. Crena de Iongh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First Treasurer of the World Bank; key apartheid-finance figure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483C"/>
                          </a:solidFill>
                          <a:latin typeface="Inter"/>
                        </a:rPr>
                        <a:t>"Paul Hoffman Robeson"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Paul Robeson + Paul Hoffman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Two distinct figures merged into one; 4 occurrences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483C"/>
                          </a:solidFill>
                          <a:latin typeface="Inter"/>
                        </a:rPr>
                        <a:t>"Margaret the King"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Martin Luther King Jr.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Recurring across multiple interviews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483C"/>
                          </a:solidFill>
                          <a:latin typeface="Inter"/>
                        </a:rPr>
                        <a:t>"Auto bom barroom"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Audubon Ballroom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Site of Malcolm X's assassination; unrecognizable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483C"/>
                          </a:solidFill>
                          <a:latin typeface="Inter"/>
                        </a:rPr>
                        <a:t>"Stoke and Carmichael"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Stokely Carmichael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SNCC chairman; Whisper invented a second speaker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483C"/>
                          </a:solidFill>
                          <a:latin typeface="Inter"/>
                        </a:rPr>
                        <a:t>"Elders Cleaver"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Eldridge Cleaver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F5F4F3"/>
                          </a:solidFill>
                          <a:latin typeface="Inter"/>
                        </a:rPr>
                        <a:t>BPP Minister of Information; 24 occurrences in one transcript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647395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7C766F"/>
                </a:solidFill>
                <a:latin typeface="Chivo Mono"/>
              </a:rPr>
              <a:t>Civil Rights History Project    /    WWU    /    May 27,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F2483C"/>
                </a:solidFill>
                <a:latin typeface="Chivo Mono"/>
              </a:rPr>
              <a:t>03  / 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2483C"/>
                </a:solidFill>
                <a:latin typeface="Chivo Mono"/>
              </a:rPr>
              <a:t>THE AUDIT CASCADE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109728" cy="658368"/>
          </a:xfrm>
          <a:prstGeom prst="rect">
            <a:avLst/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82296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>
                <a:solidFill>
                  <a:srgbClr val="F5F4F3"/>
                </a:solidFill>
                <a:latin typeface="Inter"/>
              </a:rPr>
              <a:t>Eight passes of cleaning  +  a ninth against the LoC archive.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920240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232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0" rIns="128016" bIns="0" rtlCol="0" anchor="ctr"/>
          <a:lstStyle/>
          <a:p>
            <a:pPr algn="ctr"/>
            <a:r>
              <a:rPr sz="1300" b="1">
                <a:solidFill>
                  <a:srgbClr val="F5F4F3"/>
                </a:solidFill>
                <a:latin typeface="Chivo Mono"/>
              </a:rPr>
              <a:t>Pass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984248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B8B3AD"/>
                </a:solidFill>
                <a:latin typeface="Inter"/>
              </a:rPr>
              <a:t>Phonetic alias matching + ground-truth corpus grounding.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468880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232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0" rIns="128016" bIns="0" rtlCol="0" anchor="ctr"/>
          <a:lstStyle/>
          <a:p>
            <a:pPr algn="ctr"/>
            <a:r>
              <a:rPr sz="1300" b="1">
                <a:solidFill>
                  <a:srgbClr val="F5F4F3"/>
                </a:solidFill>
                <a:latin typeface="Chivo Mono"/>
              </a:rPr>
              <a:t>Pass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532888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B8B3AD"/>
                </a:solidFill>
                <a:latin typeface="Inter"/>
              </a:rPr>
              <a:t>Per-entry tail sweep for entries with partial Pass 1 reads.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017520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232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0" rIns="128016" bIns="0" rtlCol="0" anchor="ctr"/>
          <a:lstStyle/>
          <a:p>
            <a:pPr algn="ctr"/>
            <a:r>
              <a:rPr sz="1300" b="1">
                <a:solidFill>
                  <a:srgbClr val="F5F4F3"/>
                </a:solidFill>
                <a:latin typeface="Chivo Mono"/>
              </a:rPr>
              <a:t>Pass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3081528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B8B3AD"/>
                </a:solidFill>
                <a:latin typeface="Inter"/>
              </a:rPr>
              <a:t>Consolidation: confidence resolutions + adversarial-review flags.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566160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232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0" rIns="128016" bIns="0" rtlCol="0" anchor="ctr"/>
          <a:lstStyle/>
          <a:p>
            <a:pPr algn="ctr"/>
            <a:r>
              <a:rPr sz="1300" b="1">
                <a:solidFill>
                  <a:srgbClr val="F5F4F3"/>
                </a:solidFill>
                <a:latin typeface="Chivo Mono"/>
              </a:rPr>
              <a:t>Pass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3630168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B8B3AD"/>
                </a:solidFill>
                <a:latin typeface="Inter"/>
              </a:rPr>
              <a:t>Sweeping QA + fact-check; one transcript per agent, strict isolation.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114800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232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0" rIns="128016" bIns="0" rtlCol="0" anchor="ctr"/>
          <a:lstStyle/>
          <a:p>
            <a:pPr algn="ctr"/>
            <a:r>
              <a:rPr sz="1300" b="1">
                <a:solidFill>
                  <a:srgbClr val="F5F4F3"/>
                </a:solidFill>
                <a:latin typeface="Chivo Mono"/>
              </a:rPr>
              <a:t>Layer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4178808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B8B3AD"/>
                </a:solidFill>
                <a:latin typeface="Inter"/>
              </a:rPr>
              <a:t>Corpus-global fidelity audit: phantom renderings, canonical consistency, contradictions.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663440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232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0" rIns="128016" bIns="0" rtlCol="0" anchor="ctr"/>
          <a:lstStyle/>
          <a:p>
            <a:pPr algn="ctr"/>
            <a:r>
              <a:rPr sz="1300" b="1">
                <a:solidFill>
                  <a:srgbClr val="F5F4F3"/>
                </a:solidFill>
                <a:latin typeface="Chivo Mono"/>
              </a:rPr>
              <a:t>Pass 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4727448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B8B3AD"/>
                </a:solidFill>
                <a:latin typeface="Inter"/>
              </a:rPr>
              <a:t>Apply-step discipline lockdown after the Pass 7 PRR side-file regression.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5212080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232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0" rIns="128016" bIns="0" rtlCol="0" anchor="ctr"/>
          <a:lstStyle/>
          <a:p>
            <a:pPr algn="ctr"/>
            <a:r>
              <a:rPr sz="1300" b="1">
                <a:solidFill>
                  <a:srgbClr val="F5F4F3"/>
                </a:solidFill>
                <a:latin typeface="Chivo Mono"/>
              </a:rPr>
              <a:t>Pass 7 PRR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5276088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B8B3AD"/>
                </a:solidFill>
                <a:latin typeface="Inter"/>
              </a:rPr>
              <a:t>Narrative-coherence pass: catches ASR name-bleed cases alias matching cannot.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5760720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0" rIns="128016" bIns="0" rtlCol="0" anchor="ctr"/>
          <a:lstStyle/>
          <a:p>
            <a:pPr algn="ctr"/>
            <a:r>
              <a:rPr sz="1300" b="1">
                <a:solidFill>
                  <a:srgbClr val="F5F4F3"/>
                </a:solidFill>
                <a:latin typeface="Chivo Mono"/>
              </a:rPr>
              <a:t>Pass 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5824728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5F4F3"/>
                </a:solidFill>
                <a:latin typeface="Inter"/>
              </a:rPr>
              <a:t>Library of Congress canonical-archive cross-reference. The first pass anchored to an external authority. Coverage: 127 / 127.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7395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7C766F"/>
                </a:solidFill>
                <a:latin typeface="Chivo Mono"/>
              </a:rPr>
              <a:t>Civil Rights History Project    /    WWU    /    May 27,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F2483C"/>
                </a:solidFill>
                <a:latin typeface="Chivo Mono"/>
              </a:rPr>
              <a:t>04  / 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2483C"/>
                </a:solidFill>
                <a:latin typeface="Chivo Mono"/>
              </a:rPr>
              <a:t>PASS 8: LIBRARY OF CONGRESS HEALING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109728" cy="658368"/>
          </a:xfrm>
          <a:prstGeom prst="rect">
            <a:avLst/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82296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>
                <a:solidFill>
                  <a:srgbClr val="F5F4F3"/>
                </a:solidFill>
                <a:latin typeface="Inter"/>
              </a:rPr>
              <a:t>The 9th pass that anchored the corpus to its canonical authority.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1">
                <a:solidFill>
                  <a:srgbClr val="B8B3AD"/>
                </a:solidFill>
                <a:latin typeface="Source Serif 4"/>
              </a:rPr>
              <a:t>LoC and the Smithsonian NMAAHC jointly produced this corpus. LoC has authoritative transcripts for every interview. Passes 1-7 used internal ground truth + adversarial review but never cross-referenced our text against LoC's. Pass 8 fixed that.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4612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F2483C"/>
                </a:solidFill>
                <a:latin typeface="Chivo Mono"/>
              </a:rPr>
              <a:t>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3273552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F5F4F3"/>
                </a:solidFill>
                <a:latin typeface="Inter"/>
              </a:rPr>
              <a:t>Resolve LoC item URL for each interviewee (search API + PDF fallback).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0332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F2483C"/>
                </a:solidFill>
                <a:latin typeface="Chivo Mono"/>
              </a:rPr>
              <a:t>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730752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F5F4F3"/>
                </a:solidFill>
                <a:latin typeface="Inter"/>
              </a:rPr>
              <a:t>Word-align our Whisper-derived .srt against LoC's transcript text.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16052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F2483C"/>
                </a:solidFill>
                <a:latin typeface="Chivo Mono"/>
              </a:rPr>
              <a:t>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4187952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F5F4F3"/>
                </a:solidFill>
                <a:latin typeface="Inter"/>
              </a:rPr>
              <a:t>Classify each divergence under conservative-first-pass discipline.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61772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F2483C"/>
                </a:solidFill>
                <a:latin typeface="Chivo Mono"/>
              </a:rPr>
              <a:t>4.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645152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F5F4F3"/>
                </a:solidFill>
                <a:latin typeface="Inter"/>
              </a:rPr>
              <a:t>Apply only the deterministic-verdict heals inside existing cue boundaries.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07492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F2483C"/>
                </a:solidFill>
                <a:latin typeface="Chivo Mono"/>
              </a:rPr>
              <a:t>5.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5102352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F5F4F3"/>
                </a:solidFill>
                <a:latin typeface="Inter"/>
              </a:rPr>
              <a:t>Flag the rest for SME review (per-entry stage file: pass8_stage/...).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53212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F2483C"/>
                </a:solidFill>
                <a:latin typeface="Chivo Mono"/>
              </a:rPr>
              <a:t>6.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559552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F5F4F3"/>
                </a:solidFill>
                <a:latin typeface="Inter"/>
              </a:rPr>
              <a:t>Audit-canon safeguard: do not auto-reverse a confirmed prior-pass correction.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7C766F"/>
                </a:solidFill>
                <a:latin typeface="Chivo Mono"/>
              </a:rPr>
              <a:t>Civil Rights History Project    /    WWU    /    May 27,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F2483C"/>
                </a:solidFill>
                <a:latin typeface="Chivo Mono"/>
              </a:rPr>
              <a:t>05  / 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2483C"/>
                </a:solidFill>
                <a:latin typeface="Chivo Mono"/>
              </a:rPr>
              <a:t>COVERAGE ACHIEVED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109728" cy="658368"/>
          </a:xfrm>
          <a:prstGeom prst="rect">
            <a:avLst/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82296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>
                <a:solidFill>
                  <a:srgbClr val="F5F4F3"/>
                </a:solidFill>
                <a:latin typeface="Inter"/>
              </a:rPr>
              <a:t>Every audit-able interview cross-validated against LoC.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920240"/>
            <a:ext cx="3337560" cy="1280160"/>
          </a:xfrm>
          <a:prstGeom prst="rect">
            <a:avLst/>
          </a:prstGeom>
          <a:solidFill>
            <a:srgbClr val="1A2026"/>
          </a:solidFill>
          <a:ln w="12700">
            <a:solidFill>
              <a:srgbClr val="2A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00" b="1" i="0">
                <a:solidFill>
                  <a:srgbClr val="F2483C"/>
                </a:solidFill>
                <a:latin typeface="Inter"/>
              </a:rP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97480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B8B3AD"/>
                </a:solidFill>
                <a:latin typeface="Chivo Mono"/>
              </a:rPr>
              <a:t>of the 127 audit-able corpus healed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920240"/>
            <a:ext cx="3337560" cy="1280160"/>
          </a:xfrm>
          <a:prstGeom prst="rect">
            <a:avLst/>
          </a:prstGeom>
          <a:solidFill>
            <a:srgbClr val="1A2026"/>
          </a:solidFill>
          <a:ln w="12700">
            <a:solidFill>
              <a:srgbClr val="2A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0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00" b="1" i="0">
                <a:solidFill>
                  <a:srgbClr val="F2483C"/>
                </a:solidFill>
                <a:latin typeface="Inter"/>
              </a:rPr>
              <a:t>127 / 127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697480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B8B3AD"/>
                </a:solidFill>
                <a:latin typeface="Chivo Mono"/>
              </a:rPr>
              <a:t>interviews cross-referenced with LoC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09560" y="1920240"/>
            <a:ext cx="3337560" cy="1280160"/>
          </a:xfrm>
          <a:prstGeom prst="rect">
            <a:avLst/>
          </a:prstGeom>
          <a:solidFill>
            <a:srgbClr val="1A2026"/>
          </a:solidFill>
          <a:ln w="12700">
            <a:solidFill>
              <a:srgbClr val="2A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92440" y="2011680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00" b="1" i="0">
                <a:solidFill>
                  <a:srgbClr val="F2483C"/>
                </a:solidFill>
                <a:latin typeface="Inter"/>
              </a:rPr>
              <a:t>~2,600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697480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B8B3AD"/>
                </a:solidFill>
                <a:latin typeface="Chivo Mono"/>
              </a:rPr>
              <a:t>ASR-error heals applied; 0 apply failures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868680" y="3520440"/>
          <a:ext cx="10469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4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4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2483C"/>
                          </a:solidFill>
                          <a:latin typeface="Chivo Mono"/>
                        </a:rPr>
                        <a:t>Metric</a:t>
                      </a:r>
                    </a:p>
                  </a:txBody>
                  <a:tcPr marL="109728" marR="109728" marT="54864" marB="54864"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2483C"/>
                          </a:solidFill>
                          <a:latin typeface="Chivo Mono"/>
                        </a:rPr>
                        <a:t>Value</a:t>
                      </a:r>
                    </a:p>
                  </a:txBody>
                  <a:tcPr marL="109728" marR="109728" marT="54864" marB="54864">
                    <a:solidFill>
                      <a:srgbClr val="0F14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483C"/>
                          </a:solidFill>
                          <a:latin typeface="Inter"/>
                        </a:rPr>
                        <a:t>Total interviews in audit-able corpus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127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483C"/>
                          </a:solidFill>
                          <a:latin typeface="Inter"/>
                        </a:rPr>
                        <a:t>Healed via LoC TEI2 XML transcripts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92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483C"/>
                          </a:solidFill>
                          <a:latin typeface="Inter"/>
                        </a:rPr>
                        <a:t>Healed via LoC PDF text extraction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35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483C"/>
                          </a:solidFill>
                          <a:latin typeface="Inter"/>
                        </a:rPr>
                        <a:t>Audio-only on LoC (no transcript at all)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483C"/>
                          </a:solidFill>
                          <a:latin typeface="Inter"/>
                        </a:rPr>
                        <a:t>Total divergences flagged for SME review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~95,000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483C"/>
                          </a:solidFill>
                          <a:latin typeface="Inter"/>
                        </a:rPr>
                        <a:t>Cue-count / timestamp verification failures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868680" y="6172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1">
                <a:solidFill>
                  <a:srgbClr val="F2483C"/>
                </a:solidFill>
                <a:latin typeface="Inter"/>
              </a:rPr>
              <a:t>LoC has machine-extractable transcripts for every interview in our corpus.  Coverage is complete.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7C766F"/>
                </a:solidFill>
                <a:latin typeface="Chivo Mono"/>
              </a:rPr>
              <a:t>Civil Rights History Project    /    WWU    /    May 27,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F2483C"/>
                </a:solidFill>
                <a:latin typeface="Chivo Mono"/>
              </a:rPr>
              <a:t>06  / 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2483C"/>
                </a:solidFill>
                <a:latin typeface="Chivo Mono"/>
              </a:rPr>
              <a:t>CONSERVATIVE-FIRST-PASS DISCIPLINE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109728" cy="658368"/>
          </a:xfrm>
          <a:prstGeom prst="rect">
            <a:avLst/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82296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>
                <a:solidFill>
                  <a:srgbClr val="F5F4F3"/>
                </a:solidFill>
                <a:latin typeface="Inter"/>
              </a:rPr>
              <a:t>95,000 divergences detected.   ~2,600 applied.   Why so few?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1">
                <a:solidFill>
                  <a:srgbClr val="B8B3AD"/>
                </a:solidFill>
                <a:latin typeface="Source Serif 4"/>
              </a:rPr>
              <a:t>The automatic-apply path is reserved for cases we are highly confident: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724912"/>
            <a:ext cx="146304" cy="146304"/>
          </a:xfrm>
          <a:prstGeom prst="ellipse">
            <a:avLst/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97864" y="2606040"/>
            <a:ext cx="10186416" cy="8229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F5F4F3"/>
                </a:solidFill>
                <a:latin typeface="Inter"/>
              </a:rPr>
              <a:t>Single-word proper-noun substitution.</a:t>
            </a:r>
            <a:r>
              <a:rPr sz="1400" b="0">
                <a:solidFill>
                  <a:srgbClr val="B8B3AD"/>
                </a:solidFill>
                <a:latin typeface="Inter"/>
              </a:rPr>
              <a:t>    Klein -&gt; Cline.  Phonetic confusion band only; anything broader skipped.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364992"/>
            <a:ext cx="146304" cy="146304"/>
          </a:xfrm>
          <a:prstGeom prst="ellipse">
            <a:avLst/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97864" y="3246120"/>
            <a:ext cx="10186416" cy="8229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F5F4F3"/>
                </a:solidFill>
                <a:latin typeface="Inter"/>
              </a:rPr>
              <a:t>Similarity ratio in the 0.55 - 0.95 band.</a:t>
            </a:r>
            <a:r>
              <a:rPr sz="1400" b="0">
                <a:solidFill>
                  <a:srgbClr val="B8B3AD"/>
                </a:solidFill>
                <a:latin typeface="Inter"/>
              </a:rPr>
              <a:t>    Close enough to be ASR confusion, far enough not to be case or orthography drift.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4005072"/>
            <a:ext cx="146304" cy="146304"/>
          </a:xfrm>
          <a:prstGeom prst="ellipse">
            <a:avLst/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97864" y="3886200"/>
            <a:ext cx="10186416" cy="8229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F5F4F3"/>
                </a:solidFill>
                <a:latin typeface="Inter"/>
              </a:rPr>
              <a:t>Our token NOT in the audit-canon set.</a:t>
            </a:r>
            <a:r>
              <a:rPr sz="1400" b="0">
                <a:solidFill>
                  <a:srgbClr val="B8B3AD"/>
                </a:solidFill>
                <a:latin typeface="Inter"/>
              </a:rPr>
              <a:t>    Never reverse a confirmed prior-pass correction; surface as SME review instead.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4645152"/>
            <a:ext cx="146304" cy="146304"/>
          </a:xfrm>
          <a:prstGeom prst="ellipse">
            <a:avLst/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97864" y="4526280"/>
            <a:ext cx="10186416" cy="8229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F5F4F3"/>
                </a:solidFill>
                <a:latin typeface="Inter"/>
              </a:rPr>
              <a:t>Adjacent characters not contraction or hyphen.</a:t>
            </a:r>
            <a:r>
              <a:rPr sz="1400" b="0">
                <a:solidFill>
                  <a:srgbClr val="B8B3AD"/>
                </a:solidFill>
                <a:latin typeface="Inter"/>
              </a:rPr>
              <a:t>    Avoids the landmines: 'don' -&gt; 'Daniel H. Crena de Iongh' would eat every 'don't'.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5349240"/>
            <a:ext cx="10469880" cy="960120"/>
          </a:xfrm>
          <a:prstGeom prst="rect">
            <a:avLst/>
          </a:prstGeom>
          <a:solidFill>
            <a:srgbClr val="232A31"/>
          </a:solidFill>
          <a:ln w="25400">
            <a:solidFill>
              <a:srgbClr val="F24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5468112"/>
            <a:ext cx="101041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1">
                <a:solidFill>
                  <a:srgbClr val="F5F4F3"/>
                </a:solidFill>
                <a:latin typeface="Source Serif 4"/>
              </a:rPr>
              <a:t>The conservative path means we do not auto-introduce new errors while fixing old ones.  Everything outside the clean buckets is preserved verbatim and catalogued for human review.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7C766F"/>
                </a:solidFill>
                <a:latin typeface="Chivo Mono"/>
              </a:rPr>
              <a:t>Civil Rights History Project    /    WWU    /    May 27,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F2483C"/>
                </a:solidFill>
                <a:latin typeface="Chivo Mono"/>
              </a:rPr>
              <a:t>07  / 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2483C"/>
                </a:solidFill>
                <a:latin typeface="Chivo Mono"/>
              </a:rPr>
              <a:t>CHALLENGE CATEGORIES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109728" cy="658368"/>
          </a:xfrm>
          <a:prstGeom prst="rect">
            <a:avLst/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82296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>
                <a:solidFill>
                  <a:srgbClr val="F5F4F3"/>
                </a:solidFill>
                <a:latin typeface="Inter"/>
              </a:rPr>
              <a:t>What else broke, and how we handled it.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1874519"/>
          <a:ext cx="104698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4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4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2483C"/>
                          </a:solidFill>
                          <a:latin typeface="Chivo Mono"/>
                        </a:rPr>
                        <a:t>Challenge</a:t>
                      </a:r>
                    </a:p>
                  </a:txBody>
                  <a:tcPr marL="109728" marR="109728" marT="54864" marB="54864"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2483C"/>
                          </a:solidFill>
                          <a:latin typeface="Chivo Mono"/>
                        </a:rPr>
                        <a:t>How it surfaces / how we handled it</a:t>
                      </a:r>
                    </a:p>
                  </a:txBody>
                  <a:tcPr marL="109728" marR="109728" marT="54864" marB="54864">
                    <a:solidFill>
                      <a:srgbClr val="0F14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483C"/>
                          </a:solidFill>
                          <a:latin typeface="Inter"/>
                        </a:rPr>
                        <a:t>Incorrect header / interviewer attribution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"David Klein" everywhere it should have been David Cline.  Pass 8 fixed against LoC.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483C"/>
                          </a:solidFill>
                          <a:latin typeface="Inter"/>
                        </a:rPr>
                        <a:t>Incomplete transcripts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Whisper sometimes emptied joint interviews.  Re-ingested via the streamlined pipeline.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483C"/>
                          </a:solidFill>
                          <a:latin typeface="Inter"/>
                        </a:rPr>
                        <a:t>Multiple speakers in one cue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ASR cannot segment overlapping voices.  Flagged as ingestion-only tier; retrieval hedges.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483C"/>
                          </a:solidFill>
                          <a:latin typeface="Inter"/>
                        </a:rPr>
                        <a:t>Corrupted transcriptions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Audubon Ballroom -&gt; Auto bom barroom.  Lenox -&gt; Linux.  Pass 8 catches when LoC has the canonical form.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483C"/>
                          </a:solidFill>
                          <a:latin typeface="Inter"/>
                        </a:rPr>
                        <a:t>ASR name-bleed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Two figures merged into one (Paul Robeson + Paul Hoffman).  Requires narrative-coherence pass.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483C"/>
                          </a:solidFill>
                          <a:latin typeface="Inter"/>
                        </a:rPr>
                        <a:t>Short-needle substitution corruption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'don' -&gt; 'Daniel H. Crena de Iongh' would eat 'don't'.  Word-boundary + contraction guards.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483C"/>
                          </a:solidFill>
                          <a:latin typeface="Inter"/>
                        </a:rPr>
                        <a:t>Audit-canon leakage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Whisper spelling promoted in an early pass, never re-checked.  Pass 8 surfaces 710 such cases.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7395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7C766F"/>
                </a:solidFill>
                <a:latin typeface="Chivo Mono"/>
              </a:rPr>
              <a:t>Civil Rights History Project    /    WWU    /    May 27,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F2483C"/>
                </a:solidFill>
                <a:latin typeface="Chivo Mono"/>
              </a:rPr>
              <a:t>08  / 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2483C"/>
                </a:solidFill>
                <a:latin typeface="Chivo Mono"/>
              </a:rPr>
              <a:t>WHAT THE CLEANED CORPUS ENABLES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109728" cy="658368"/>
          </a:xfrm>
          <a:prstGeom prst="rect">
            <a:avLst/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82296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>
                <a:solidFill>
                  <a:srgbClr val="F5F4F3"/>
                </a:solidFill>
                <a:latin typeface="Inter"/>
              </a:rPr>
              <a:t>A live, interactive RAG layer on top of an audit-grade substrate.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1">
                <a:solidFill>
                  <a:srgbClr val="B8B3AD"/>
                </a:solidFill>
                <a:latin typeface="Source Serif 4"/>
              </a:rPr>
              <a:t>Audit cleanliness is the foundation.  The retrieval layer is what makes the corpus useful to a researcher today.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770632"/>
            <a:ext cx="146304" cy="146304"/>
          </a:xfrm>
          <a:prstGeom prst="ellipse">
            <a:avLst/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97864" y="2651760"/>
            <a:ext cx="10186416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F5F4F3"/>
                </a:solidFill>
                <a:latin typeface="Inter"/>
              </a:rPr>
              <a:t>Voyage AI voyage-3 embeddings (1024-dim).</a:t>
            </a:r>
            <a:r>
              <a:rPr sz="1300" b="0">
                <a:solidFill>
                  <a:srgbClr val="B8B3AD"/>
                </a:solidFill>
                <a:latin typeface="Inter"/>
              </a:rPr>
              <a:t>    Retrieval-tuned; finds passages that ANSWER a question, not just mention the same words.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502152"/>
            <a:ext cx="146304" cy="146304"/>
          </a:xfrm>
          <a:prstGeom prst="ellipse">
            <a:avLst/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97864" y="3383280"/>
            <a:ext cx="10186416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F5F4F3"/>
                </a:solidFill>
                <a:latin typeface="Inter"/>
              </a:rPr>
              <a:t>Pinecone Builder serverless vector index.</a:t>
            </a:r>
            <a:r>
              <a:rPr sz="1300" b="0">
                <a:solidFill>
                  <a:srgbClr val="B8B3AD"/>
                </a:solidFill>
                <a:latin typeface="Inter"/>
              </a:rPr>
              <a:t>    15,464 time-anchored .srt chunks across the 136-entry unified corpus.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4233672"/>
            <a:ext cx="146304" cy="146304"/>
          </a:xfrm>
          <a:prstGeom prst="ellipse">
            <a:avLst/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97864" y="4114800"/>
            <a:ext cx="10186416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F5F4F3"/>
                </a:solidFill>
                <a:latin typeface="Inter"/>
              </a:rPr>
              <a:t>Voyage rerank-2 on top of vector search.</a:t>
            </a:r>
            <a:r>
              <a:rPr sz="1300" b="0">
                <a:solidFill>
                  <a:srgbClr val="B8B3AD"/>
                </a:solidFill>
                <a:latin typeface="Inter"/>
              </a:rPr>
              <a:t>    Reorders the initial 50-candidate pull by deeper semantic relevance.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4965192"/>
            <a:ext cx="146304" cy="146304"/>
          </a:xfrm>
          <a:prstGeom prst="ellipse">
            <a:avLst/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97864" y="4846320"/>
            <a:ext cx="10186416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F5F4F3"/>
                </a:solidFill>
                <a:latin typeface="Inter"/>
              </a:rPr>
              <a:t>5-tier fidelity badge on every passage.</a:t>
            </a:r>
            <a:r>
              <a:rPr sz="1300" b="0">
                <a:solidFill>
                  <a:srgbClr val="B8B3AD"/>
                </a:solidFill>
                <a:latin typeface="Inter"/>
              </a:rPr>
              <a:t>    low / medium / publication-block / not-auditable / ingestion-only.  Smithsonian rigor at result level.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5696712"/>
            <a:ext cx="146304" cy="146304"/>
          </a:xfrm>
          <a:prstGeom prst="ellipse">
            <a:avLst/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97864" y="5577840"/>
            <a:ext cx="10186416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F5F4F3"/>
                </a:solidFill>
                <a:latin typeface="Inter"/>
              </a:rPr>
              <a:t>Library of Congress catalog deep-link on every result.</a:t>
            </a:r>
            <a:r>
              <a:rPr sz="1300" b="0">
                <a:solidFill>
                  <a:srgbClr val="B8B3AD"/>
                </a:solidFill>
                <a:latin typeface="Inter"/>
              </a:rPr>
              <a:t>    The audience can verify the source against the canonical archive in one click.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7C766F"/>
                </a:solidFill>
                <a:latin typeface="Chivo Mono"/>
              </a:rPr>
              <a:t>Civil Rights History Project    /    WWU    /    May 27,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F2483C"/>
                </a:solidFill>
                <a:latin typeface="Chivo Mono"/>
              </a:rPr>
              <a:t>09  / 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2483C"/>
                </a:solidFill>
                <a:latin typeface="Chivo Mono"/>
              </a:rPr>
              <a:t>/RAG-EXPLORE   -   THE INTERACTIVE DEMO PAGE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109728" cy="658368"/>
          </a:xfrm>
          <a:prstGeom prst="rect">
            <a:avLst/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82296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>
                <a:solidFill>
                  <a:srgbClr val="F5F4F3"/>
                </a:solidFill>
                <a:latin typeface="Inter"/>
              </a:rPr>
              <a:t>Six surfaces on one page, all on the same embedding substrate.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874519"/>
            <a:ext cx="5166360" cy="1417320"/>
          </a:xfrm>
          <a:prstGeom prst="rect">
            <a:avLst/>
          </a:prstGeom>
          <a:solidFill>
            <a:srgbClr val="1A2026"/>
          </a:solidFill>
          <a:ln w="12700">
            <a:solidFill>
              <a:srgbClr val="2A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8680" y="1874519"/>
            <a:ext cx="109728" cy="14173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97280" y="2057399"/>
            <a:ext cx="2194560" cy="402336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0" rIns="128016" bIns="0" rtlCol="0" anchor="ctr"/>
          <a:lstStyle/>
          <a:p>
            <a:pPr algn="ctr"/>
            <a:r>
              <a:rPr sz="1300" b="1">
                <a:solidFill>
                  <a:srgbClr val="F5F4F3"/>
                </a:solidFill>
                <a:latin typeface="Chivo Mono"/>
              </a:rPr>
              <a:t>Spectrum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560319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>
                <a:solidFill>
                  <a:srgbClr val="B8B3AD"/>
                </a:solidFill>
                <a:latin typeface="Source Serif 4"/>
              </a:rPr>
              <a:t>136 dots placed along one named conceptual axis at a time.  Nonviolence as Theology vs. Armed Self-Defense, Sacred vs. Secular Framing, etc.  Click a dot to drill in.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874519"/>
            <a:ext cx="5166360" cy="1417320"/>
          </a:xfrm>
          <a:prstGeom prst="rect">
            <a:avLst/>
          </a:prstGeom>
          <a:solidFill>
            <a:srgbClr val="1A2026"/>
          </a:solidFill>
          <a:ln w="12700">
            <a:solidFill>
              <a:srgbClr val="2A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72200" y="1874519"/>
            <a:ext cx="109728" cy="14173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00800" y="2057399"/>
            <a:ext cx="2194560" cy="402336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0" rIns="128016" bIns="0" rtlCol="0" anchor="ctr"/>
          <a:lstStyle/>
          <a:p>
            <a:pPr algn="ctr"/>
            <a:r>
              <a:rPr sz="1300" b="1">
                <a:solidFill>
                  <a:srgbClr val="F5F4F3"/>
                </a:solidFill>
                <a:latin typeface="Chivo Mono"/>
              </a:rPr>
              <a:t>Semantic Overlap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560319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>
                <a:solidFill>
                  <a:srgbClr val="B8B3AD"/>
                </a:solidFill>
                <a:latin typeface="Source Serif 4"/>
              </a:rPr>
              <a:t>Pick an interview.  See which other voices in the corpus discuss semantically-related material.  The 'voices in conversation' demo.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3428999"/>
            <a:ext cx="5166360" cy="1417320"/>
          </a:xfrm>
          <a:prstGeom prst="rect">
            <a:avLst/>
          </a:prstGeom>
          <a:solidFill>
            <a:srgbClr val="1A2026"/>
          </a:solidFill>
          <a:ln w="12700">
            <a:solidFill>
              <a:srgbClr val="2A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68680" y="3428999"/>
            <a:ext cx="109728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97280" y="3611879"/>
            <a:ext cx="2194560" cy="40233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0" rIns="128016" bIns="0" rtlCol="0" anchor="ctr"/>
          <a:lstStyle/>
          <a:p>
            <a:pPr algn="ctr"/>
            <a:r>
              <a:rPr sz="1300" b="1">
                <a:solidFill>
                  <a:srgbClr val="F5F4F3"/>
                </a:solidFill>
                <a:latin typeface="Chivo Mono"/>
              </a:rPr>
              <a:t>Word 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114799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>
                <a:solidFill>
                  <a:srgbClr val="B8B3AD"/>
                </a:solidFill>
                <a:latin typeface="Source Serif 4"/>
              </a:rPr>
              <a:t>Four 2D scatters across pairs of named axes plus a 5-spectrum 1D summary that lights up when you project a phrase onto every axis at once.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3428999"/>
            <a:ext cx="5166360" cy="1417320"/>
          </a:xfrm>
          <a:prstGeom prst="rect">
            <a:avLst/>
          </a:prstGeom>
          <a:solidFill>
            <a:srgbClr val="1A2026"/>
          </a:solidFill>
          <a:ln w="12700">
            <a:solidFill>
              <a:srgbClr val="2A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72200" y="3428999"/>
            <a:ext cx="109728" cy="1417320"/>
          </a:xfrm>
          <a:prstGeom prst="rect">
            <a:avLst/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400800" y="3611879"/>
            <a:ext cx="2194560" cy="402336"/>
          </a:xfrm>
          <a:prstGeom prst="roundRect">
            <a:avLst>
              <a:gd name="adj" fmla="val 50000"/>
            </a:avLst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0" rIns="128016" bIns="0" rtlCol="0" anchor="ctr"/>
          <a:lstStyle/>
          <a:p>
            <a:pPr algn="ctr"/>
            <a:r>
              <a:rPr sz="1300" b="1">
                <a:solidFill>
                  <a:srgbClr val="F5F4F3"/>
                </a:solidFill>
                <a:latin typeface="Chivo Mono"/>
              </a:rPr>
              <a:t>Interview Map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114799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>
                <a:solidFill>
                  <a:srgbClr val="B8B3AD"/>
                </a:solidFill>
                <a:latin typeface="Source Serif 4"/>
              </a:rPr>
              <a:t>136 dots in UMAP-projected space with empirically-derived axis labels extracted from the corpus itself (Medical Law, Movement, Family, Crime).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4983479"/>
            <a:ext cx="5166360" cy="1417320"/>
          </a:xfrm>
          <a:prstGeom prst="rect">
            <a:avLst/>
          </a:prstGeom>
          <a:solidFill>
            <a:srgbClr val="1A2026"/>
          </a:solidFill>
          <a:ln w="12700">
            <a:solidFill>
              <a:srgbClr val="2A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68680" y="4983479"/>
            <a:ext cx="109728" cy="14173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97280" y="5166359"/>
            <a:ext cx="2194560" cy="402336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0" rIns="128016" bIns="0" rtlCol="0" anchor="ctr"/>
          <a:lstStyle/>
          <a:p>
            <a:pPr algn="ctr"/>
            <a:r>
              <a:rPr sz="1300" b="1">
                <a:solidFill>
                  <a:srgbClr val="0F1419"/>
                </a:solidFill>
                <a:latin typeface="Chivo Mono"/>
              </a:rPr>
              <a:t>Quote Finder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669279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>
                <a:solidFill>
                  <a:srgbClr val="B8B3AD"/>
                </a:solidFill>
                <a:latin typeface="Source Serif 4"/>
              </a:rPr>
              <a:t>Paste a half-remembered quote.  Get the source with the exact timestamp and Library of Congress catalog link.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4983479"/>
            <a:ext cx="5166360" cy="1417320"/>
          </a:xfrm>
          <a:prstGeom prst="rect">
            <a:avLst/>
          </a:prstGeom>
          <a:solidFill>
            <a:srgbClr val="1A2026"/>
          </a:solidFill>
          <a:ln w="12700">
            <a:solidFill>
              <a:srgbClr val="2A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72200" y="4983479"/>
            <a:ext cx="109728" cy="1417320"/>
          </a:xfrm>
          <a:prstGeom prst="rect">
            <a:avLst/>
          </a:prstGeom>
          <a:solidFill>
            <a:srgbClr val="7C7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400800" y="5166359"/>
            <a:ext cx="2194560" cy="402336"/>
          </a:xfrm>
          <a:prstGeom prst="roundRect">
            <a:avLst>
              <a:gd name="adj" fmla="val 50000"/>
            </a:avLst>
          </a:prstGeom>
          <a:solidFill>
            <a:srgbClr val="7C7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0" rIns="128016" bIns="0" rtlCol="0" anchor="ctr"/>
          <a:lstStyle/>
          <a:p>
            <a:pPr algn="ctr"/>
            <a:r>
              <a:rPr sz="1300" b="1">
                <a:solidFill>
                  <a:srgbClr val="F5F4F3"/>
                </a:solidFill>
                <a:latin typeface="Chivo Mono"/>
              </a:rPr>
              <a:t>Secondary surfaces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669279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>
                <a:solidFill>
                  <a:srgbClr val="B8B3AD"/>
                </a:solidFill>
                <a:latin typeface="Source Serif 4"/>
              </a:rPr>
              <a:t>Themes  /  Famous Names  /  Atlas  /  Network  /  Tours  /  Quote of the Day.  All precomputed JSON; no LLM per query.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7C766F"/>
                </a:solidFill>
                <a:latin typeface="Chivo Mono"/>
              </a:rPr>
              <a:t>Civil Rights History Project    /    WWU    /    May 27,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F2483C"/>
                </a:solidFill>
                <a:latin typeface="Chivo Mono"/>
              </a:rPr>
              <a:t>10  / 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2483C"/>
                </a:solidFill>
                <a:latin typeface="Chivo Mono"/>
              </a:rPr>
              <a:t>MCP SERVER   -   THE CORPUS AS A CONNECTOR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109728" cy="658368"/>
          </a:xfrm>
          <a:prstGeom prst="rect">
            <a:avLst/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82296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>
                <a:solidFill>
                  <a:srgbClr val="F5F4F3"/>
                </a:solidFill>
                <a:latin typeface="Inter"/>
              </a:rPr>
              <a:t>Same substrate, different interface.  Reachable from any MCP client.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1">
                <a:solidFill>
                  <a:srgbClr val="B8B3AD"/>
                </a:solidFill>
                <a:latin typeface="Source Serif 4"/>
              </a:rPr>
              <a:t>mcp-server/server.mjs exposes the same Pinecone + Voyage substrate to LLM chat clients (Codex Desktop, Claude Desktop, the Anthropic Connector Directory).  Six tools, three of them research-pattern, all citation-grade.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46120"/>
            <a:ext cx="5166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2483C"/>
                </a:solidFill>
                <a:latin typeface="Chivo Mono"/>
              </a:rPr>
              <a:t>PRIMITIVE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611880"/>
            <a:ext cx="51663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hivo Mono"/>
              </a:rPr>
              <a:t>search_transcripts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904488"/>
            <a:ext cx="51663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B8B3AD"/>
                </a:solidFill>
                <a:latin typeface="Source Serif 4"/>
              </a:rPr>
              <a:t>Citation-grade semantic search.  Filters by entry, tier, dedupe-by-entry.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526280"/>
            <a:ext cx="51663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hivo Mono"/>
              </a:rPr>
              <a:t>get_transcript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818888"/>
            <a:ext cx="51663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B8B3AD"/>
                </a:solidFill>
                <a:latin typeface="Source Serif 4"/>
              </a:rPr>
              <a:t>Full ordered transcript for one entry_number.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440680"/>
            <a:ext cx="51663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hivo Mono"/>
              </a:rPr>
              <a:t>list_leaders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733288"/>
            <a:ext cx="51663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B8B3AD"/>
                </a:solidFill>
                <a:latin typeface="Source Serif 4"/>
              </a:rPr>
              <a:t>Archive roster: entry numbers, LoC URLs, provenance, audit tiers.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3246120"/>
            <a:ext cx="5166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2483C"/>
                </a:solidFill>
                <a:latin typeface="Chivo Mono"/>
              </a:rPr>
              <a:t>RESEARCH-PATTERN 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611880"/>
            <a:ext cx="51663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 dirty="0" err="1">
                <a:solidFill>
                  <a:srgbClr val="38BDF8"/>
                </a:solidFill>
                <a:latin typeface="Chivo Mono"/>
              </a:rPr>
              <a:t>compare_perspectives</a:t>
            </a:r>
            <a:r>
              <a:rPr sz="1300" b="1" i="0" dirty="0">
                <a:solidFill>
                  <a:srgbClr val="38BDF8"/>
                </a:solidFill>
                <a:latin typeface="Chivo Mono"/>
              </a:rPr>
              <a:t>({ topic })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3904488"/>
            <a:ext cx="51663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B8B3AD"/>
                </a:solidFill>
                <a:latin typeface="Source Serif 4"/>
              </a:rPr>
              <a:t>Multiple interviewee voices on one topic, deduped, with citation framing.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4526280"/>
            <a:ext cx="51663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 dirty="0" err="1">
                <a:solidFill>
                  <a:srgbClr val="38BDF8"/>
                </a:solidFill>
                <a:latin typeface="Chivo Mono"/>
              </a:rPr>
              <a:t>trace_evolution</a:t>
            </a:r>
            <a:r>
              <a:rPr sz="1300" b="1" i="0" dirty="0">
                <a:solidFill>
                  <a:srgbClr val="38BDF8"/>
                </a:solidFill>
                <a:latin typeface="Chivo Mono"/>
              </a:rPr>
              <a:t>({ interviewee, topic })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4818888"/>
            <a:ext cx="51663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B8B3AD"/>
                </a:solidFill>
                <a:latin typeface="Source Serif 4"/>
              </a:rPr>
              <a:t>Chronologically ordered passages from one interview, scoped to one topic.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5440680"/>
            <a:ext cx="51663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 dirty="0" err="1">
                <a:solidFill>
                  <a:srgbClr val="38BDF8"/>
                </a:solidFill>
                <a:latin typeface="Chivo Mono"/>
              </a:rPr>
              <a:t>source_for_claim</a:t>
            </a:r>
            <a:r>
              <a:rPr sz="1300" b="1" i="0" dirty="0">
                <a:solidFill>
                  <a:srgbClr val="38BDF8"/>
                </a:solidFill>
                <a:latin typeface="Chivo Mono"/>
              </a:rPr>
              <a:t>({ claim })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5733288"/>
            <a:ext cx="51663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B8B3AD"/>
                </a:solidFill>
                <a:latin typeface="Source Serif 4"/>
              </a:rPr>
              <a:t>Passages that support, complicate, or contradict a claim.  Citation metadata preserved.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5989320"/>
            <a:ext cx="10469880" cy="457200"/>
          </a:xfrm>
          <a:prstGeom prst="rect">
            <a:avLst/>
          </a:prstGeom>
          <a:solidFill>
            <a:srgbClr val="F2483C"/>
          </a:solidFill>
          <a:ln>
            <a:solidFill>
              <a:srgbClr val="F24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51560" y="6053328"/>
            <a:ext cx="10104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5F4F3"/>
                </a:solidFill>
                <a:latin typeface="Chivo Mono"/>
              </a:rPr>
              <a:t>Every tool returns Chicago / APA / MLA citation blocks + the LoC catalog URL.   Deployable to Fly.io; verified locally against the live Pinecone index.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7395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7C766F"/>
                </a:solidFill>
                <a:latin typeface="Chivo Mono"/>
              </a:rPr>
              <a:t>Civil Rights History Project    /    WWU    /    May 27,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F2483C"/>
                </a:solidFill>
                <a:latin typeface="Chivo Mono"/>
              </a:rPr>
              <a:t>11  / 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2483C"/>
                </a:solidFill>
                <a:latin typeface="Chivo Mono"/>
              </a:rPr>
              <a:t>PHILOSOPHY OF EMBEDDING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109728" cy="658368"/>
          </a:xfrm>
          <a:prstGeom prst="rect">
            <a:avLst/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82296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>
                <a:solidFill>
                  <a:srgbClr val="F5F4F3"/>
                </a:solidFill>
                <a:latin typeface="Inter"/>
              </a:rPr>
              <a:t>When two voices land within 0.12 cosine, the embedding heard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1">
                <a:solidFill>
                  <a:srgbClr val="B8B3AD"/>
                </a:solidFill>
                <a:latin typeface="Source Serif 4"/>
              </a:rPr>
              <a:t>Cosine similarity is reading a thematic kinship the speakers may never have realized they shared.  This is the conceptual move that turns retrieval into discovery.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3136392"/>
            <a:ext cx="146304" cy="146304"/>
          </a:xfrm>
          <a:prstGeom prst="ellipse">
            <a:avLst/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97864" y="3017520"/>
            <a:ext cx="10186416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F5F4F3"/>
                </a:solidFill>
                <a:latin typeface="Inter"/>
              </a:rPr>
              <a:t>Geometric, deterministic, no LLM per query.</a:t>
            </a:r>
            <a:r>
              <a:rPr sz="1400" b="0">
                <a:solidFill>
                  <a:srgbClr val="B8B3AD"/>
                </a:solidFill>
                <a:latin typeface="Inter"/>
              </a:rPr>
              <a:t>    Spectrum positions are pure dot products.  Same query renders the same way across reloads.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913632"/>
            <a:ext cx="146304" cy="146304"/>
          </a:xfrm>
          <a:prstGeom prst="ellipse">
            <a:avLst/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97864" y="3794760"/>
            <a:ext cx="10186416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F5F4F3"/>
                </a:solidFill>
                <a:latin typeface="Inter"/>
              </a:rPr>
              <a:t>Named axes, not statistical leftovers.</a:t>
            </a:r>
            <a:r>
              <a:rPr sz="1400" b="0">
                <a:solidFill>
                  <a:srgbClr val="B8B3AD"/>
                </a:solidFill>
                <a:latin typeface="Inter"/>
              </a:rPr>
              <a:t>    UMAP and PCA give 'directions of max variance' that mean nothing.  Our axes are hand-curated human concepts.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4690872"/>
            <a:ext cx="146304" cy="146304"/>
          </a:xfrm>
          <a:prstGeom prst="ellipse">
            <a:avLst/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97864" y="4572000"/>
            <a:ext cx="10186416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F5F4F3"/>
                </a:solidFill>
                <a:latin typeface="Inter"/>
              </a:rPr>
              <a:t>Cross-surface synchronization.</a:t>
            </a:r>
            <a:r>
              <a:rPr sz="1400" b="0">
                <a:solidFill>
                  <a:srgbClr val="B8B3AD"/>
                </a:solidFill>
                <a:latin typeface="Inter"/>
              </a:rPr>
              <a:t>    Hover Aaron Dixon in one chart, watch him land at different coordinates in the other three.  The shift is what the structure means.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5468112"/>
            <a:ext cx="146304" cy="146304"/>
          </a:xfrm>
          <a:prstGeom prst="ellipse">
            <a:avLst/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97864" y="5349240"/>
            <a:ext cx="10186416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F5F4F3"/>
                </a:solidFill>
                <a:latin typeface="Inter"/>
              </a:rPr>
              <a:t>Provenance and uncertainty are first-class metadata.</a:t>
            </a:r>
            <a:r>
              <a:rPr sz="1400" b="0">
                <a:solidFill>
                  <a:srgbClr val="B8B3AD"/>
                </a:solidFill>
                <a:latin typeface="Inter"/>
              </a:rPr>
              <a:t>    Every chunk knows its audit tier and its LoC catalog URL.  Citation-grade output by construction.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7C766F"/>
                </a:solidFill>
                <a:latin typeface="Chivo Mono"/>
              </a:rPr>
              <a:t>Civil Rights History Project    /    WWU    /    May 27,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F2483C"/>
                </a:solidFill>
                <a:latin typeface="Chivo Mono"/>
              </a:rPr>
              <a:t>12  / 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2483C"/>
                </a:solidFill>
                <a:latin typeface="Chivo Mono"/>
              </a:rPr>
              <a:t>STEERING DOCUMENT HIERARCHY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109728" cy="658368"/>
          </a:xfrm>
          <a:prstGeom prst="rect">
            <a:avLst/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82296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>
                <a:solidFill>
                  <a:srgbClr val="F5F4F3"/>
                </a:solidFill>
                <a:latin typeface="Inter"/>
              </a:rPr>
              <a:t>Six tiers.  Read top-down, build out from there.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7233793"/>
              </p:ext>
            </p:extLst>
          </p:nvPr>
        </p:nvGraphicFramePr>
        <p:xfrm>
          <a:off x="777240" y="1655064"/>
          <a:ext cx="10469880" cy="4133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9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89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89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2483C"/>
                          </a:solidFill>
                          <a:latin typeface="Chivo Mono"/>
                        </a:rPr>
                        <a:t>Tier</a:t>
                      </a:r>
                    </a:p>
                  </a:txBody>
                  <a:tcPr marL="109728" marR="109728" marT="54864" marB="54864"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2483C"/>
                          </a:solidFill>
                          <a:latin typeface="Chivo Mono"/>
                        </a:rPr>
                        <a:t>Purpose</a:t>
                      </a:r>
                    </a:p>
                  </a:txBody>
                  <a:tcPr marL="109728" marR="109728" marT="54864" marB="54864"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2483C"/>
                          </a:solidFill>
                          <a:latin typeface="Chivo Mono"/>
                        </a:rPr>
                        <a:t>Documents</a:t>
                      </a:r>
                    </a:p>
                  </a:txBody>
                  <a:tcPr marL="109728" marR="109728" marT="54864" marB="54864">
                    <a:solidFill>
                      <a:srgbClr val="0F14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483C"/>
                          </a:solidFill>
                          <a:latin typeface="Inter"/>
                        </a:rPr>
                        <a:t>Tier 1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Orientation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CLAUDE.md, README.md, PRESENTATION_REFERENCE.md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483C"/>
                          </a:solidFill>
                          <a:latin typeface="Inter"/>
                        </a:rPr>
                        <a:t>Tier 2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Active reference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docs/*.md, rag/README.md, rag/INTERACTIVE_FEATURES_DESIGN.md, mcp-server/USAGE_GUIDE.md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483C"/>
                          </a:solidFill>
                          <a:latin typeface="Inter"/>
                        </a:rPr>
                        <a:t>Tier 3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Lessons learned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lessons_learned.md, docs/RAG_SUBSTRATE_DECISION.md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483C"/>
                          </a:solidFill>
                          <a:latin typeface="Inter"/>
                        </a:rPr>
                        <a:t>Tier 4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Demo prep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rag/CONFERENCE_PREP.md, rag/DEMO_SCRIPT.md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483C"/>
                          </a:solidFill>
                          <a:latin typeface="Inter"/>
                        </a:rPr>
                        <a:t>Tier 5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Provenance / historical record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transcripts/AUDIT_TRAIL.md, CLEANED_TRANSCRIPTS_REVIEW.md, loc_healing/COVERAGE_REPORT.md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F2483C"/>
                          </a:solidFill>
                          <a:latin typeface="Inter"/>
                        </a:rPr>
                        <a:t>Tier 6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Deprecated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F5F4F3"/>
                          </a:solidFill>
                          <a:latin typeface="Inter"/>
                        </a:rPr>
                        <a:t>docs/WEAVIATE_INTEGRATION_DESIGN.md  (substrate pivoted 2026-05-22)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8680" y="58978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1">
                <a:solidFill>
                  <a:srgbClr val="F2483C"/>
                </a:solidFill>
                <a:latin typeface="Inter"/>
              </a:rPr>
              <a:t>Full hierarchy + 'when to read what' cheat sheet:  STEERING_DOCS.md at the project root.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7C766F"/>
                </a:solidFill>
                <a:latin typeface="Chivo Mono"/>
              </a:rPr>
              <a:t>Civil Rights History Project    /    WWU    /    May 27,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F2483C"/>
                </a:solidFill>
                <a:latin typeface="Chivo Mono"/>
              </a:rPr>
              <a:t>13  / 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2483C"/>
                </a:solidFill>
                <a:latin typeface="Chivo Mono"/>
              </a:rPr>
              <a:t>WHEN TO READ WHAT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109728" cy="658368"/>
          </a:xfrm>
          <a:prstGeom prst="rect">
            <a:avLst/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82296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>
                <a:solidFill>
                  <a:srgbClr val="F5F4F3"/>
                </a:solidFill>
                <a:latin typeface="Inter"/>
              </a:rPr>
              <a:t>Most-common-task cheat sheet.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1874519"/>
          <a:ext cx="104698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4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4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81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2483C"/>
                          </a:solidFill>
                          <a:latin typeface="Chivo Mono"/>
                        </a:rPr>
                        <a:t>You are about to...</a:t>
                      </a:r>
                    </a:p>
                  </a:txBody>
                  <a:tcPr marL="109728" marR="109728" marT="54864" marB="54864"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2483C"/>
                          </a:solidFill>
                          <a:latin typeface="Chivo Mono"/>
                        </a:rPr>
                        <a:t>Read first</a:t>
                      </a:r>
                    </a:p>
                  </a:txBody>
                  <a:tcPr marL="109728" marR="109728" marT="54864" marB="54864">
                    <a:solidFill>
                      <a:srgbClr val="0F14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483C"/>
                          </a:solidFill>
                          <a:latin typeface="Inter"/>
                        </a:rPr>
                        <a:t>Start contributing for the first time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CLAUDE.md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483C"/>
                          </a:solidFill>
                          <a:latin typeface="Inter"/>
                        </a:rPr>
                        <a:t>Brief an external stakeholder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PRESENTATION_REFERENCE.md  -&gt;  lessons_learned.md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483C"/>
                          </a:solidFill>
                          <a:latin typeface="Inter"/>
                        </a:rPr>
                        <a:t>Demo the live site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rag/DEMO_SCRIPT.md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483C"/>
                          </a:solidFill>
                          <a:latin typeface="Inter"/>
                        </a:rPr>
                        <a:t>Edit audit overlays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CLAUDE.md (audit discipline)  +  AUDIT_TRAIL.md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483C"/>
                          </a:solidFill>
                          <a:latin typeface="Inter"/>
                        </a:rPr>
                        <a:t>Ingest a new transcript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transcripts/ingestion/README.md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483C"/>
                          </a:solidFill>
                          <a:latin typeface="Inter"/>
                        </a:rPr>
                        <a:t>Touch the RAG ingest / retrieval code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rag/README.md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483C"/>
                          </a:solidFill>
                          <a:latin typeface="Inter"/>
                        </a:rPr>
                        <a:t>Build a new interactive surface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rag/INTERACTIVE_FEATURES_DESIGN.md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483C"/>
                          </a:solidFill>
                          <a:latin typeface="Inter"/>
                        </a:rPr>
                        <a:t>Deploy to staging or production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docs/DEPLOYMENT.md  +  rag/OPERATIONS.md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483C"/>
                          </a:solidFill>
                          <a:latin typeface="Inter"/>
                        </a:rPr>
                        <a:t>Touch the MCP server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mcp-server/README.md  +  mcp-server/USAGE_GUIDE.md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483C"/>
                          </a:solidFill>
                          <a:latin typeface="Inter"/>
                        </a:rPr>
                        <a:t>Touch styling / colors / accessibility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docs/ACCESSIBILITY.md  +  CLAUDE.md (writing rules)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483C"/>
                          </a:solidFill>
                          <a:latin typeface="Inter"/>
                        </a:rPr>
                        <a:t>Show LoC / Smithsonian reviewer the rigor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AUDIT_TRAIL.md  +  loc_healing/COVERAGE_REPORT.md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7395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7C766F"/>
                </a:solidFill>
                <a:latin typeface="Chivo Mono"/>
              </a:rPr>
              <a:t>Civil Rights History Project    /    WWU    /    May 27,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F2483C"/>
                </a:solidFill>
                <a:latin typeface="Chivo Mono"/>
              </a:rPr>
              <a:t>14  / 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2483C"/>
                </a:solidFill>
                <a:latin typeface="Chivo Mono"/>
              </a:rPr>
              <a:t>WHAT IS DEFERRED  /  WHAT IS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109728" cy="658368"/>
          </a:xfrm>
          <a:prstGeom prst="rect">
            <a:avLst/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82296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>
                <a:solidFill>
                  <a:srgbClr val="F5F4F3"/>
                </a:solidFill>
                <a:latin typeface="Inter"/>
              </a:rPr>
              <a:t>Known follow-on work.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1993391"/>
            <a:ext cx="146304" cy="146304"/>
          </a:xfrm>
          <a:prstGeom prst="ellipse">
            <a:avLst/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97864" y="1874519"/>
            <a:ext cx="10186416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F5F4F3"/>
                </a:solidFill>
                <a:latin typeface="Inter"/>
              </a:rPr>
              <a:t>5 spelling-discrepancy entries.</a:t>
            </a:r>
            <a:r>
              <a:rPr sz="1300" b="0">
                <a:solidFill>
                  <a:srgbClr val="B8B3AD"/>
                </a:solidFill>
                <a:latin typeface="Inter"/>
              </a:rPr>
              <a:t>    Alternative-spelling re-search against LoC catalog.  Recoverable; small, targeted.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679191"/>
            <a:ext cx="146304" cy="146304"/>
          </a:xfrm>
          <a:prstGeom prst="ellipse">
            <a:avLst/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97864" y="2560319"/>
            <a:ext cx="10186416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F5F4F3"/>
                </a:solidFill>
                <a:latin typeface="Inter"/>
              </a:rPr>
              <a:t>~92,000 SME-flagged divergences.</a:t>
            </a:r>
            <a:r>
              <a:rPr sz="1300" b="0">
                <a:solidFill>
                  <a:srgbClr val="B8B3AD"/>
                </a:solidFill>
                <a:latin typeface="Inter"/>
              </a:rPr>
              <a:t>    Future targeted pass with model classification.  Most editorial; a minority real corrections we declined to auto-apply.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364991"/>
            <a:ext cx="146304" cy="146304"/>
          </a:xfrm>
          <a:prstGeom prst="ellipse">
            <a:avLst/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97864" y="3246119"/>
            <a:ext cx="10186416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F5F4F3"/>
                </a:solidFill>
                <a:latin typeface="Inter"/>
              </a:rPr>
              <a:t>Forced-alignment timing improvement.</a:t>
            </a:r>
            <a:r>
              <a:rPr sz="1300" b="0">
                <a:solidFill>
                  <a:srgbClr val="B8B3AD"/>
                </a:solidFill>
                <a:latin typeface="Inter"/>
              </a:rPr>
              <a:t>    WhisperX or Montreal Forced Aligner against LoC audio.  Tightens per-clip precision below the 5-second cue grid.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050791"/>
            <a:ext cx="146304" cy="146304"/>
          </a:xfrm>
          <a:prstGeom prst="ellipse">
            <a:avLst/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97864" y="3931919"/>
            <a:ext cx="10186416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F5F4F3"/>
                </a:solidFill>
                <a:latin typeface="Inter"/>
              </a:rPr>
              <a:t>MCP server deploy to Fly.io.</a:t>
            </a:r>
            <a:r>
              <a:rPr sz="1300" b="0">
                <a:solidFill>
                  <a:srgbClr val="B8B3AD"/>
                </a:solidFill>
                <a:latin typeface="Inter"/>
              </a:rPr>
              <a:t>    Code verified locally.  Awaiting flyctl auth login + fly deploy.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736591"/>
            <a:ext cx="146304" cy="146304"/>
          </a:xfrm>
          <a:prstGeom prst="ellipse">
            <a:avLst/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97864" y="4617719"/>
            <a:ext cx="10186416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F5F4F3"/>
                </a:solidFill>
                <a:latin typeface="Inter"/>
              </a:rPr>
              <a:t>Pipeline run on the 135 raw transcripts.</a:t>
            </a:r>
            <a:r>
              <a:rPr sz="1300" b="0">
                <a:solidFill>
                  <a:srgbClr val="B8B3AD"/>
                </a:solidFill>
                <a:latin typeface="Inter"/>
              </a:rPr>
              <a:t>    Dual-scoring + citation audit.  ~$5.40 estimated cost across the full corpus.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5422391"/>
            <a:ext cx="146304" cy="146304"/>
          </a:xfrm>
          <a:prstGeom prst="ellipse">
            <a:avLst/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97864" y="5303519"/>
            <a:ext cx="10186416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F5F4F3"/>
                </a:solidFill>
                <a:latin typeface="Inter"/>
              </a:rPr>
              <a:t>Firebase Cloud Functions deploy.</a:t>
            </a:r>
            <a:r>
              <a:rPr sz="1300" b="0">
                <a:solidFill>
                  <a:srgbClr val="B8B3AD"/>
                </a:solidFill>
                <a:latin typeface="Inter"/>
              </a:rPr>
              <a:t>    Requires Blaze billing on the new project + the OPENAI_API_KEY secret.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7C766F"/>
                </a:solidFill>
                <a:latin typeface="Chivo Mono"/>
              </a:rPr>
              <a:t>Civil Rights History Project    /    WWU    /    May 27,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F2483C"/>
                </a:solidFill>
                <a:latin typeface="Chivo Mono"/>
              </a:rPr>
              <a:t>15  / 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822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2483C"/>
                </a:solidFill>
                <a:latin typeface="Chivo Mono"/>
              </a:rPr>
              <a:t>WHAT TO TAKE 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400" b="1" i="0">
                <a:solidFill>
                  <a:srgbClr val="F5F4F3"/>
                </a:solidFill>
                <a:latin typeface="Inter"/>
              </a:rPr>
              <a:t>We built an audit instrument,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400" b="1" i="0">
                <a:solidFill>
                  <a:srgbClr val="F2483C"/>
                </a:solidFill>
                <a:latin typeface="Inter"/>
              </a:rPr>
              <a:t>not a clean-up script.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42900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B8B3AD"/>
                </a:solidFill>
                <a:latin typeface="Source Serif 4"/>
              </a:rPr>
              <a:t>Eight internal passes plus a Library of Congress healing pass against the canonical archive.  Conservative-first-pass discipline so we do not auto-introduce new errors.  Every passage carries its audit tier and its LoC catalog deep-link.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9377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7C766F"/>
                </a:solidFill>
                <a:latin typeface="Chivo Mono"/>
              </a:rPr>
              <a:t>civil-rights-staging.netlify.app  /  /rag-explore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68680" y="5577840"/>
            <a:ext cx="2788920" cy="0"/>
          </a:xfrm>
          <a:prstGeom prst="line">
            <a:avLst/>
          </a:prstGeom>
          <a:ln w="25400">
            <a:solidFill>
              <a:srgbClr val="F248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68680" y="566928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400" b="1" i="0">
                <a:solidFill>
                  <a:srgbClr val="F2483C"/>
                </a:solidFill>
                <a:latin typeface="Inter"/>
              </a:rPr>
              <a:t>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2396</Words>
  <Application>Microsoft Office PowerPoint</Application>
  <PresentationFormat>Widescreen</PresentationFormat>
  <Paragraphs>267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Arial</vt:lpstr>
      <vt:lpstr>Calibri</vt:lpstr>
      <vt:lpstr>Chivo Mono</vt:lpstr>
      <vt:lpstr>Inter</vt:lpstr>
      <vt:lpstr>Source Serif 4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Allione Eric</cp:lastModifiedBy>
  <cp:revision>4</cp:revision>
  <dcterms:created xsi:type="dcterms:W3CDTF">2013-01-27T09:14:16Z</dcterms:created>
  <dcterms:modified xsi:type="dcterms:W3CDTF">2026-05-27T18:56:59Z</dcterms:modified>
  <cp:category/>
</cp:coreProperties>
</file>